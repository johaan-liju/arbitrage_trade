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65" r:id="rId5"/>
    <p:sldId id="259" r:id="rId6"/>
    <p:sldId id="266" r:id="rId7"/>
    <p:sldId id="260" r:id="rId8"/>
    <p:sldId id="264" r:id="rId9"/>
    <p:sldId id="262" r:id="rId10"/>
    <p:sldId id="263" r:id="rId11"/>
  </p:sldIdLst>
  <p:sldSz cx="18288000" cy="10287000"/>
  <p:notesSz cx="6858000" cy="9144000"/>
  <p:embeddedFontLst>
    <p:embeddedFont>
      <p:font typeface="Caveat" panose="020B0604020202020204" charset="0"/>
      <p:regular r:id="rId13"/>
      <p:bold r:id="rId14"/>
    </p:embeddedFont>
    <p:embeddedFont>
      <p:font typeface="IBM Plex Sans" panose="020B0503050203000203" pitchFamily="34" charset="0"/>
      <p:regular r:id="rId15"/>
      <p:bold r:id="rId16"/>
      <p:italic r:id="rId17"/>
      <p:boldItalic r:id="rId18"/>
    </p:embeddedFont>
    <p:embeddedFont>
      <p:font typeface="Montserrat" panose="000005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7" d="100"/>
          <a:sy n="47" d="100"/>
        </p:scale>
        <p:origin x="500"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GoldLens is a pipeline, not a black box. Each step is a module in the backend and each can be inspected in the UI. The three tiles are our unique value: we only use what was knowable at the chosen time, we refuse to alert on bad inputs, and we never show a probability we have not calibrated.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This is the real running prototype, captured from the browser. Left is Monitor: watchlist with exact expiry, freshness and source time. Right is Alerts: what the evaluation supports, then session rules. Walk the five-step flow at the bottom. The synthetic banner is always visible.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This is one real alert, from the synthetic demo. The z-score is large because the synthetic data has an injected anomaly, which we state openly. Point at each numbered part: identity and timing, the supporting observations, costs under three scenarios, uncertainty text, and the follow-up paper outcome. Note that no probability is shown.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Progress is stated as facts we have verified. The four tiles are test results from our build log. The right column is deliberately honest: real verified MCX data has not been loaded yet, so calibration and real cost evidence are still open.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84" name="Google Shape;84;p13"/>
          <p:cNvGrpSpPr/>
          <p:nvPr/>
        </p:nvGrpSpPr>
        <p:grpSpPr>
          <a:xfrm>
            <a:off x="-1053997" y="4384600"/>
            <a:ext cx="15153455" cy="4159401"/>
            <a:chOff x="0" y="-114300"/>
            <a:chExt cx="20204608" cy="5545869"/>
          </a:xfrm>
        </p:grpSpPr>
        <p:sp>
          <p:nvSpPr>
            <p:cNvPr id="85" name="Google Shape;85;p13"/>
            <p:cNvSpPr txBox="1"/>
            <p:nvPr/>
          </p:nvSpPr>
          <p:spPr>
            <a:xfrm>
              <a:off x="0" y="-114300"/>
              <a:ext cx="8473247" cy="133965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6055" b="1" i="0" u="none" strike="noStrike" cap="none">
                  <a:solidFill>
                    <a:srgbClr val="1D1D1F"/>
                  </a:solidFill>
                  <a:latin typeface="Montserrat"/>
                  <a:ea typeface="Montserrat"/>
                  <a:cs typeface="Montserrat"/>
                  <a:sym typeface="Montserrat"/>
                </a:rPr>
                <a:t>TEAM</a:t>
              </a:r>
              <a:endParaRPr/>
            </a:p>
          </p:txBody>
        </p:sp>
        <p:sp>
          <p:nvSpPr>
            <p:cNvPr id="86" name="Google Shape;86;p13"/>
            <p:cNvSpPr txBox="1"/>
            <p:nvPr/>
          </p:nvSpPr>
          <p:spPr>
            <a:xfrm>
              <a:off x="4917498" y="1498355"/>
              <a:ext cx="15287110" cy="3933214"/>
            </a:xfrm>
            <a:prstGeom prst="rect">
              <a:avLst/>
            </a:prstGeom>
            <a:noFill/>
            <a:ln>
              <a:noFill/>
            </a:ln>
          </p:spPr>
          <p:txBody>
            <a:bodyPr spcFirstLastPara="1" wrap="square" lIns="0" tIns="0" rIns="0" bIns="0" anchor="t" anchorCtr="0">
              <a:spAutoFit/>
            </a:bodyPr>
            <a:lstStyle/>
            <a:p>
              <a:pPr lvl="0"/>
              <a:r>
                <a:rPr lang="en-US" sz="3169" b="1" i="0" u="none" strike="noStrike" cap="none" dirty="0">
                  <a:solidFill>
                    <a:srgbClr val="1D1D1F"/>
                  </a:solidFill>
                  <a:latin typeface="IBM Plex Sans"/>
                  <a:ea typeface="IBM Plex Sans"/>
                  <a:cs typeface="IBM Plex Sans"/>
                  <a:sym typeface="IBM Plex Sans"/>
                </a:rPr>
                <a:t> </a:t>
              </a:r>
            </a:p>
            <a:p>
              <a:pPr lvl="0"/>
              <a:r>
                <a:rPr lang="en-IN" sz="3200" b="1" dirty="0"/>
                <a:t>ERROR 404</a:t>
              </a:r>
            </a:p>
            <a:p>
              <a:pPr lvl="0"/>
              <a:endParaRPr lang="en-IN" sz="3200" dirty="0"/>
            </a:p>
            <a:p>
              <a:r>
                <a:rPr lang="en-IN" sz="3200" b="1" dirty="0"/>
                <a:t>Anjela Joseph</a:t>
              </a:r>
              <a:r>
                <a:rPr lang="en-IN" sz="3200" dirty="0"/>
                <a:t> — Backend and system integration</a:t>
              </a:r>
            </a:p>
            <a:p>
              <a:pPr lvl="0"/>
              <a:r>
                <a:rPr lang="en-IN" sz="3200" b="1" dirty="0"/>
                <a:t>Jose Mathew </a:t>
              </a:r>
              <a:r>
                <a:rPr lang="en-IN" sz="3200" b="1" dirty="0" err="1"/>
                <a:t>Moolayil</a:t>
              </a:r>
              <a:r>
                <a:rPr lang="en-IN" sz="3200" dirty="0"/>
                <a:t> — Frontend and UI/UX design</a:t>
              </a:r>
            </a:p>
            <a:p>
              <a:r>
                <a:rPr lang="en-IN" sz="3200" b="1" dirty="0"/>
                <a:t>Johaan Liju James</a:t>
              </a:r>
              <a:r>
                <a:rPr lang="en-IN" sz="3200" dirty="0"/>
                <a:t> — AI, machine learning and API logic</a:t>
              </a:r>
              <a:endParaRPr lang="en-US" sz="3169" b="1" dirty="0">
                <a:solidFill>
                  <a:srgbClr val="1D1D1F"/>
                </a:solidFill>
                <a:latin typeface="IBM Plex Sans"/>
                <a:ea typeface="IBM Plex Sans"/>
                <a:cs typeface="IBM Plex Sans"/>
                <a:sym typeface="IBM Plex Sans"/>
              </a:endParaRPr>
            </a:p>
          </p:txBody>
        </p:sp>
      </p:grpSp>
      <p:pic>
        <p:nvPicPr>
          <p:cNvPr id="87" name="Google Shape;87;p13" title="download (2).jpg"/>
          <p:cNvPicPr preferRelativeResize="0"/>
          <p:nvPr/>
        </p:nvPicPr>
        <p:blipFill rotWithShape="1">
          <a:blip r:embed="rId3">
            <a:alphaModFix/>
          </a:blip>
          <a:srcRect l="38928" r="16455"/>
          <a:stretch/>
        </p:blipFill>
        <p:spPr>
          <a:xfrm rot="-5400000">
            <a:off x="7123100" y="-7111200"/>
            <a:ext cx="4088375" cy="18326624"/>
          </a:xfrm>
          <a:prstGeom prst="rect">
            <a:avLst/>
          </a:prstGeom>
          <a:noFill/>
          <a:ln>
            <a:noFill/>
          </a:ln>
        </p:spPr>
      </p:pic>
      <p:pic>
        <p:nvPicPr>
          <p:cNvPr id="88" name="Google Shape;88;p13"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89" name="Google Shape;89;p13"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p:nvPr/>
        </p:nvSpPr>
        <p:spPr>
          <a:xfrm>
            <a:off x="542925" y="2001834"/>
            <a:ext cx="8601075" cy="5309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PROBLEM STATEMENT &amp; THEME</a:t>
            </a:r>
            <a:endParaRPr/>
          </a:p>
        </p:txBody>
      </p:sp>
      <p:sp>
        <p:nvSpPr>
          <p:cNvPr id="96" name="Google Shape;96;p14"/>
          <p:cNvSpPr txBox="1"/>
          <p:nvPr/>
        </p:nvSpPr>
        <p:spPr>
          <a:xfrm>
            <a:off x="1972243" y="2525665"/>
            <a:ext cx="10521525" cy="515206"/>
          </a:xfrm>
          <a:prstGeom prst="rect">
            <a:avLst/>
          </a:prstGeom>
          <a:noFill/>
          <a:ln>
            <a:noFill/>
          </a:ln>
        </p:spPr>
        <p:txBody>
          <a:bodyPr spcFirstLastPara="1" wrap="square" lIns="0" tIns="0" rIns="0" bIns="0" anchor="t" anchorCtr="0">
            <a:spAutoFit/>
          </a:bodyPr>
          <a:lstStyle/>
          <a:p>
            <a:pPr marL="0" marR="0" lvl="0" indent="0" algn="l" rtl="0">
              <a:lnSpc>
                <a:spcPct val="185611"/>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pic>
        <p:nvPicPr>
          <p:cNvPr id="98" name="Google Shape;98;p14"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3" name="TextBox 2">
            <a:extLst>
              <a:ext uri="{FF2B5EF4-FFF2-40B4-BE49-F238E27FC236}">
                <a16:creationId xmlns:a16="http://schemas.microsoft.com/office/drawing/2014/main" id="{91F4D68A-0334-086D-70E7-4AB815660FB4}"/>
              </a:ext>
            </a:extLst>
          </p:cNvPr>
          <p:cNvSpPr txBox="1"/>
          <p:nvPr/>
        </p:nvSpPr>
        <p:spPr>
          <a:xfrm>
            <a:off x="948504" y="3794075"/>
            <a:ext cx="16178981" cy="4247317"/>
          </a:xfrm>
          <a:prstGeom prst="rect">
            <a:avLst/>
          </a:prstGeom>
          <a:noFill/>
        </p:spPr>
        <p:txBody>
          <a:bodyPr wrap="square">
            <a:spAutoFit/>
          </a:bodyPr>
          <a:lstStyle/>
          <a:p>
            <a:pPr>
              <a:buNone/>
            </a:pPr>
            <a:r>
              <a:rPr lang="en-IN" sz="3000" b="1" dirty="0"/>
              <a:t>Problem</a:t>
            </a:r>
          </a:p>
          <a:p>
            <a:pPr>
              <a:buNone/>
            </a:pPr>
            <a:r>
              <a:rPr lang="en-IN" sz="3000" dirty="0"/>
              <a:t>MCX gold futures are sold as several contracts (GOLDM, GOLDTEN, GOLDGUINEA, GOLDPETAL). Each has its own lot size, price unit, purity and expiry date, so their prices cannot be compared directly.</a:t>
            </a:r>
          </a:p>
          <a:p>
            <a:pPr>
              <a:buNone/>
            </a:pPr>
            <a:r>
              <a:rPr lang="en-IN" sz="3000" b="1" dirty="0"/>
              <a:t>Impact</a:t>
            </a:r>
          </a:p>
          <a:p>
            <a:pPr>
              <a:buNone/>
            </a:pPr>
            <a:r>
              <a:rPr lang="en-IN" sz="3000" dirty="0"/>
              <a:t>Comparing by hand is risky. You can mix up expiry dates, miss unit or purity differences, or accidentally use future data. This creates false "arbitrage" signals (fake chances of easy profit) and misleading backtests (tests on past data).</a:t>
            </a:r>
          </a:p>
          <a:p>
            <a:pPr>
              <a:buNone/>
            </a:pPr>
            <a:r>
              <a:rPr lang="en-IN" sz="3000" b="1" dirty="0"/>
              <a:t>Theme alignment</a:t>
            </a:r>
          </a:p>
          <a:p>
            <a:pPr>
              <a:buNone/>
            </a:pPr>
            <a:r>
              <a:rPr lang="en-IN" sz="3000" dirty="0"/>
              <a:t>GoldLens is an analytics tool that runs on your own computer. It converts every contract to a common price per gram, flags unusual price gaps (spreads) with simple explanations, and tests them in a clear practice backtest that includes trading costs.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4.png"/>
          <p:cNvPicPr>
            <a:picLocks noChangeAspect="1"/>
          </p:cNvPicPr>
          <p:nvPr/>
        </p:nvPicPr>
        <p:blipFill>
          <a:blip r:embed="rId3"/>
          <a:stretch>
            <a:fillRect/>
          </a:stretch>
        </p:blipFill>
        <p:spPr>
          <a:xfrm>
            <a:off x="0" y="0"/>
            <a:ext cx="18288000" cy="1205517"/>
          </a:xfrm>
          <a:prstGeom prst="rect">
            <a:avLst/>
          </a:prstGeom>
        </p:spPr>
      </p:pic>
      <p:sp>
        <p:nvSpPr>
          <p:cNvPr id="5" name="TextBox 4"/>
          <p:cNvSpPr txBox="1"/>
          <p:nvPr/>
        </p:nvSpPr>
        <p:spPr>
          <a:xfrm>
            <a:off x="457200" y="1461206"/>
            <a:ext cx="10972800" cy="812530"/>
          </a:xfrm>
          <a:prstGeom prst="rect">
            <a:avLst/>
          </a:prstGeom>
          <a:noFill/>
        </p:spPr>
        <p:txBody>
          <a:bodyPr wrap="square" lIns="73152" tIns="36576" rIns="73152" bIns="36576" anchor="t">
            <a:spAutoFit/>
          </a:bodyPr>
          <a:lstStyle/>
          <a:p>
            <a:pPr algn="l">
              <a:spcAft>
                <a:spcPts val="0"/>
              </a:spcAft>
            </a:pPr>
            <a:r>
              <a:rPr sz="4800" b="1" dirty="0">
                <a:solidFill>
                  <a:srgbClr val="C8962E"/>
                </a:solidFill>
                <a:latin typeface="Calibri"/>
              </a:rPr>
              <a:t>SOLUTION</a:t>
            </a:r>
          </a:p>
        </p:txBody>
      </p:sp>
      <p:sp>
        <p:nvSpPr>
          <p:cNvPr id="8" name="Rounded Rectangle 7"/>
          <p:cNvSpPr/>
          <p:nvPr/>
        </p:nvSpPr>
        <p:spPr>
          <a:xfrm>
            <a:off x="548640" y="2377440"/>
            <a:ext cx="2560320" cy="3108960"/>
          </a:xfrm>
          <a:prstGeom prst="roundRect">
            <a:avLst>
              <a:gd name="adj" fmla="val 6000"/>
            </a:avLst>
          </a:prstGeom>
          <a:solidFill>
            <a:srgbClr val="F4F6F8"/>
          </a:solid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31520" y="2560320"/>
            <a:ext cx="502920" cy="502920"/>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2000" b="1">
                <a:solidFill>
                  <a:srgbClr val="FFFFFF"/>
                </a:solidFill>
                <a:latin typeface="Calibri"/>
              </a:rPr>
              <a:t>1</a:t>
            </a:r>
          </a:p>
        </p:txBody>
      </p:sp>
      <p:sp>
        <p:nvSpPr>
          <p:cNvPr id="10" name="TextBox 9"/>
          <p:cNvSpPr txBox="1"/>
          <p:nvPr/>
        </p:nvSpPr>
        <p:spPr>
          <a:xfrm>
            <a:off x="640080" y="3200400"/>
            <a:ext cx="2377440" cy="822960"/>
          </a:xfrm>
          <a:prstGeom prst="rect">
            <a:avLst/>
          </a:prstGeom>
          <a:noFill/>
        </p:spPr>
        <p:txBody>
          <a:bodyPr wrap="square" lIns="73152" tIns="36576" rIns="73152" bIns="36576" anchor="t">
            <a:spAutoFit/>
          </a:bodyPr>
          <a:lstStyle/>
          <a:p>
            <a:pPr algn="l">
              <a:spcAft>
                <a:spcPts val="0"/>
              </a:spcAft>
            </a:pPr>
            <a:r>
              <a:rPr sz="2250" b="1">
                <a:solidFill>
                  <a:srgbClr val="1B2430"/>
                </a:solidFill>
                <a:latin typeface="Calibri"/>
              </a:rPr>
              <a:t>Ingest &amp; validate</a:t>
            </a:r>
          </a:p>
        </p:txBody>
      </p:sp>
      <p:sp>
        <p:nvSpPr>
          <p:cNvPr id="11" name="TextBox 10"/>
          <p:cNvSpPr txBox="1"/>
          <p:nvPr/>
        </p:nvSpPr>
        <p:spPr>
          <a:xfrm>
            <a:off x="640080" y="4069080"/>
            <a:ext cx="2377440" cy="1371600"/>
          </a:xfrm>
          <a:prstGeom prst="rect">
            <a:avLst/>
          </a:prstGeom>
          <a:noFill/>
        </p:spPr>
        <p:txBody>
          <a:bodyPr wrap="square" lIns="73152" tIns="36576" rIns="73152" bIns="36576" anchor="t">
            <a:spAutoFit/>
          </a:bodyPr>
          <a:lstStyle/>
          <a:p>
            <a:pPr algn="l">
              <a:spcAft>
                <a:spcPts val="0"/>
              </a:spcAft>
            </a:pPr>
            <a:r>
              <a:rPr sz="1750" b="0">
                <a:solidFill>
                  <a:srgbClr val="5B6B7B"/>
                </a:solidFill>
                <a:latin typeface="Calibri"/>
              </a:rPr>
              <a:t>Source, unit, currency, observed and available time</a:t>
            </a:r>
          </a:p>
        </p:txBody>
      </p:sp>
      <p:sp>
        <p:nvSpPr>
          <p:cNvPr id="12" name="Right Arrow 11"/>
          <p:cNvSpPr/>
          <p:nvPr/>
        </p:nvSpPr>
        <p:spPr>
          <a:xfrm>
            <a:off x="3163824" y="3703320"/>
            <a:ext cx="256032" cy="365760"/>
          </a:xfrm>
          <a:prstGeom prst="rightArrow">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474720" y="2377440"/>
            <a:ext cx="2560320" cy="3108960"/>
          </a:xfrm>
          <a:prstGeom prst="roundRect">
            <a:avLst>
              <a:gd name="adj" fmla="val 6000"/>
            </a:avLst>
          </a:prstGeom>
          <a:solidFill>
            <a:srgbClr val="F4F6F8"/>
          </a:solid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657600" y="2560320"/>
            <a:ext cx="502920" cy="502920"/>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2000" b="1">
                <a:solidFill>
                  <a:srgbClr val="FFFFFF"/>
                </a:solidFill>
                <a:latin typeface="Calibri"/>
              </a:rPr>
              <a:t>2</a:t>
            </a:r>
          </a:p>
        </p:txBody>
      </p:sp>
      <p:sp>
        <p:nvSpPr>
          <p:cNvPr id="15" name="TextBox 14"/>
          <p:cNvSpPr txBox="1"/>
          <p:nvPr/>
        </p:nvSpPr>
        <p:spPr>
          <a:xfrm>
            <a:off x="3566160" y="3200400"/>
            <a:ext cx="2377440" cy="822960"/>
          </a:xfrm>
          <a:prstGeom prst="rect">
            <a:avLst/>
          </a:prstGeom>
          <a:noFill/>
        </p:spPr>
        <p:txBody>
          <a:bodyPr wrap="square" lIns="73152" tIns="36576" rIns="73152" bIns="36576" anchor="t">
            <a:spAutoFit/>
          </a:bodyPr>
          <a:lstStyle/>
          <a:p>
            <a:pPr algn="l">
              <a:spcAft>
                <a:spcPts val="0"/>
              </a:spcAft>
            </a:pPr>
            <a:r>
              <a:rPr sz="2250" b="1">
                <a:solidFill>
                  <a:srgbClr val="1B2430"/>
                </a:solidFill>
                <a:latin typeface="Calibri"/>
              </a:rPr>
              <a:t>Normalize</a:t>
            </a:r>
          </a:p>
        </p:txBody>
      </p:sp>
      <p:sp>
        <p:nvSpPr>
          <p:cNvPr id="16" name="TextBox 15"/>
          <p:cNvSpPr txBox="1"/>
          <p:nvPr/>
        </p:nvSpPr>
        <p:spPr>
          <a:xfrm>
            <a:off x="3566160" y="4069080"/>
            <a:ext cx="2377440" cy="1371600"/>
          </a:xfrm>
          <a:prstGeom prst="rect">
            <a:avLst/>
          </a:prstGeom>
          <a:noFill/>
        </p:spPr>
        <p:txBody>
          <a:bodyPr wrap="square" lIns="73152" tIns="36576" rIns="73152" bIns="36576" anchor="t">
            <a:spAutoFit/>
          </a:bodyPr>
          <a:lstStyle/>
          <a:p>
            <a:pPr algn="l">
              <a:spcAft>
                <a:spcPts val="0"/>
              </a:spcAft>
            </a:pPr>
            <a:r>
              <a:rPr sz="1750" b="0">
                <a:solidFill>
                  <a:srgbClr val="5B6B7B"/>
                </a:solidFill>
                <a:latin typeface="Calibri"/>
              </a:rPr>
              <a:t>Every quote to INR per gram at 999 purity</a:t>
            </a:r>
          </a:p>
        </p:txBody>
      </p:sp>
      <p:sp>
        <p:nvSpPr>
          <p:cNvPr id="17" name="Right Arrow 16"/>
          <p:cNvSpPr/>
          <p:nvPr/>
        </p:nvSpPr>
        <p:spPr>
          <a:xfrm>
            <a:off x="6089904" y="3703320"/>
            <a:ext cx="256032" cy="365760"/>
          </a:xfrm>
          <a:prstGeom prst="rightArrow">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400800" y="2377440"/>
            <a:ext cx="2560320" cy="3108960"/>
          </a:xfrm>
          <a:prstGeom prst="roundRect">
            <a:avLst>
              <a:gd name="adj" fmla="val 6000"/>
            </a:avLst>
          </a:prstGeom>
          <a:solidFill>
            <a:srgbClr val="F4F6F8"/>
          </a:solid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583680" y="2560320"/>
            <a:ext cx="502920" cy="502920"/>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2000" b="1">
                <a:solidFill>
                  <a:srgbClr val="FFFFFF"/>
                </a:solidFill>
                <a:latin typeface="Calibri"/>
              </a:rPr>
              <a:t>3</a:t>
            </a:r>
          </a:p>
        </p:txBody>
      </p:sp>
      <p:sp>
        <p:nvSpPr>
          <p:cNvPr id="20" name="TextBox 19"/>
          <p:cNvSpPr txBox="1"/>
          <p:nvPr/>
        </p:nvSpPr>
        <p:spPr>
          <a:xfrm>
            <a:off x="6492240" y="3200400"/>
            <a:ext cx="2377440" cy="822960"/>
          </a:xfrm>
          <a:prstGeom prst="rect">
            <a:avLst/>
          </a:prstGeom>
          <a:noFill/>
        </p:spPr>
        <p:txBody>
          <a:bodyPr wrap="square" lIns="73152" tIns="36576" rIns="73152" bIns="36576" anchor="t">
            <a:spAutoFit/>
          </a:bodyPr>
          <a:lstStyle/>
          <a:p>
            <a:pPr algn="l">
              <a:spcAft>
                <a:spcPts val="0"/>
              </a:spcAft>
            </a:pPr>
            <a:r>
              <a:rPr sz="2250" b="1">
                <a:solidFill>
                  <a:srgbClr val="1B2430"/>
                </a:solidFill>
                <a:latin typeface="Calibri"/>
              </a:rPr>
              <a:t>Pair exactly</a:t>
            </a:r>
          </a:p>
        </p:txBody>
      </p:sp>
      <p:sp>
        <p:nvSpPr>
          <p:cNvPr id="21" name="TextBox 20"/>
          <p:cNvSpPr txBox="1"/>
          <p:nvPr/>
        </p:nvSpPr>
        <p:spPr>
          <a:xfrm>
            <a:off x="6492240" y="4069080"/>
            <a:ext cx="2377440" cy="1371600"/>
          </a:xfrm>
          <a:prstGeom prst="rect">
            <a:avLst/>
          </a:prstGeom>
          <a:noFill/>
        </p:spPr>
        <p:txBody>
          <a:bodyPr wrap="square" lIns="73152" tIns="36576" rIns="73152" bIns="36576" anchor="t">
            <a:spAutoFit/>
          </a:bodyPr>
          <a:lstStyle/>
          <a:p>
            <a:pPr algn="l">
              <a:spcAft>
                <a:spcPts val="0"/>
              </a:spcAft>
            </a:pPr>
            <a:r>
              <a:rPr sz="1750" b="0">
                <a:solidFill>
                  <a:srgbClr val="5B6B7B"/>
                </a:solidFill>
                <a:latin typeface="Calibri"/>
              </a:rPr>
              <a:t>Same exact expiry date. Never inferred from a month</a:t>
            </a:r>
          </a:p>
        </p:txBody>
      </p:sp>
      <p:sp>
        <p:nvSpPr>
          <p:cNvPr id="22" name="Right Arrow 21"/>
          <p:cNvSpPr/>
          <p:nvPr/>
        </p:nvSpPr>
        <p:spPr>
          <a:xfrm>
            <a:off x="9015984" y="3703320"/>
            <a:ext cx="256032" cy="365760"/>
          </a:xfrm>
          <a:prstGeom prst="rightArrow">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326880" y="2377440"/>
            <a:ext cx="2560320" cy="3108960"/>
          </a:xfrm>
          <a:prstGeom prst="roundRect">
            <a:avLst>
              <a:gd name="adj" fmla="val 6000"/>
            </a:avLst>
          </a:prstGeom>
          <a:solidFill>
            <a:srgbClr val="F4F6F8"/>
          </a:solid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509760" y="2560320"/>
            <a:ext cx="502920" cy="502920"/>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2000" b="1">
                <a:solidFill>
                  <a:srgbClr val="FFFFFF"/>
                </a:solidFill>
                <a:latin typeface="Calibri"/>
              </a:rPr>
              <a:t>4</a:t>
            </a:r>
          </a:p>
        </p:txBody>
      </p:sp>
      <p:sp>
        <p:nvSpPr>
          <p:cNvPr id="25" name="TextBox 24"/>
          <p:cNvSpPr txBox="1"/>
          <p:nvPr/>
        </p:nvSpPr>
        <p:spPr>
          <a:xfrm>
            <a:off x="9418320" y="3200400"/>
            <a:ext cx="2377440" cy="822960"/>
          </a:xfrm>
          <a:prstGeom prst="rect">
            <a:avLst/>
          </a:prstGeom>
          <a:noFill/>
        </p:spPr>
        <p:txBody>
          <a:bodyPr wrap="square" lIns="73152" tIns="36576" rIns="73152" bIns="36576" anchor="t">
            <a:spAutoFit/>
          </a:bodyPr>
          <a:lstStyle/>
          <a:p>
            <a:pPr algn="l">
              <a:spcAft>
                <a:spcPts val="0"/>
              </a:spcAft>
            </a:pPr>
            <a:r>
              <a:rPr sz="2250" b="1">
                <a:solidFill>
                  <a:srgbClr val="1B2430"/>
                </a:solidFill>
                <a:latin typeface="Calibri"/>
              </a:rPr>
              <a:t>Score the spread</a:t>
            </a:r>
          </a:p>
        </p:txBody>
      </p:sp>
      <p:sp>
        <p:nvSpPr>
          <p:cNvPr id="26" name="TextBox 25"/>
          <p:cNvSpPr txBox="1"/>
          <p:nvPr/>
        </p:nvSpPr>
        <p:spPr>
          <a:xfrm>
            <a:off x="9418320" y="4069080"/>
            <a:ext cx="2377440" cy="1371600"/>
          </a:xfrm>
          <a:prstGeom prst="rect">
            <a:avLst/>
          </a:prstGeom>
          <a:noFill/>
        </p:spPr>
        <p:txBody>
          <a:bodyPr wrap="square" lIns="73152" tIns="36576" rIns="73152" bIns="36576" anchor="t">
            <a:spAutoFit/>
          </a:bodyPr>
          <a:lstStyle/>
          <a:p>
            <a:pPr algn="l">
              <a:spcAft>
                <a:spcPts val="0"/>
              </a:spcAft>
            </a:pPr>
            <a:r>
              <a:rPr sz="1750" b="0">
                <a:solidFill>
                  <a:srgbClr val="5B6B7B"/>
                </a:solidFill>
                <a:latin typeface="Calibri"/>
              </a:rPr>
              <a:t>Z-score vs ten prior common sessions only</a:t>
            </a:r>
          </a:p>
        </p:txBody>
      </p:sp>
      <p:sp>
        <p:nvSpPr>
          <p:cNvPr id="27" name="Right Arrow 26"/>
          <p:cNvSpPr/>
          <p:nvPr/>
        </p:nvSpPr>
        <p:spPr>
          <a:xfrm>
            <a:off x="11942064" y="3703320"/>
            <a:ext cx="256032" cy="365760"/>
          </a:xfrm>
          <a:prstGeom prst="rightArrow">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2252960" y="2377440"/>
            <a:ext cx="2560320" cy="3108960"/>
          </a:xfrm>
          <a:prstGeom prst="roundRect">
            <a:avLst>
              <a:gd name="adj" fmla="val 6000"/>
            </a:avLst>
          </a:prstGeom>
          <a:solidFill>
            <a:srgbClr val="F4F6F8"/>
          </a:solid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2435840" y="2560320"/>
            <a:ext cx="502920" cy="502920"/>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2000" b="1">
                <a:solidFill>
                  <a:srgbClr val="FFFFFF"/>
                </a:solidFill>
                <a:latin typeface="Calibri"/>
              </a:rPr>
              <a:t>5</a:t>
            </a:r>
          </a:p>
        </p:txBody>
      </p:sp>
      <p:sp>
        <p:nvSpPr>
          <p:cNvPr id="30" name="TextBox 29"/>
          <p:cNvSpPr txBox="1"/>
          <p:nvPr/>
        </p:nvSpPr>
        <p:spPr>
          <a:xfrm>
            <a:off x="12344400" y="3200400"/>
            <a:ext cx="2377440" cy="822960"/>
          </a:xfrm>
          <a:prstGeom prst="rect">
            <a:avLst/>
          </a:prstGeom>
          <a:noFill/>
        </p:spPr>
        <p:txBody>
          <a:bodyPr wrap="square" lIns="73152" tIns="36576" rIns="73152" bIns="36576" anchor="t">
            <a:spAutoFit/>
          </a:bodyPr>
          <a:lstStyle/>
          <a:p>
            <a:pPr algn="l">
              <a:spcAft>
                <a:spcPts val="0"/>
              </a:spcAft>
            </a:pPr>
            <a:r>
              <a:rPr sz="2250" b="1">
                <a:solidFill>
                  <a:srgbClr val="1B2430"/>
                </a:solidFill>
                <a:latin typeface="Calibri"/>
              </a:rPr>
              <a:t>Cost filter</a:t>
            </a:r>
          </a:p>
        </p:txBody>
      </p:sp>
      <p:sp>
        <p:nvSpPr>
          <p:cNvPr id="31" name="TextBox 30"/>
          <p:cNvSpPr txBox="1"/>
          <p:nvPr/>
        </p:nvSpPr>
        <p:spPr>
          <a:xfrm>
            <a:off x="12344400" y="4069080"/>
            <a:ext cx="2377440" cy="1371600"/>
          </a:xfrm>
          <a:prstGeom prst="rect">
            <a:avLst/>
          </a:prstGeom>
          <a:noFill/>
        </p:spPr>
        <p:txBody>
          <a:bodyPr wrap="square" lIns="73152" tIns="36576" rIns="73152" bIns="36576" anchor="t">
            <a:spAutoFit/>
          </a:bodyPr>
          <a:lstStyle/>
          <a:p>
            <a:pPr algn="l">
              <a:spcAft>
                <a:spcPts val="0"/>
              </a:spcAft>
            </a:pPr>
            <a:r>
              <a:rPr sz="1750" b="0">
                <a:solidFill>
                  <a:srgbClr val="5B6B7B"/>
                </a:solidFill>
                <a:latin typeface="Calibri"/>
              </a:rPr>
              <a:t>BASE, STRESS and SEVERE cost scenarios</a:t>
            </a:r>
          </a:p>
        </p:txBody>
      </p:sp>
      <p:sp>
        <p:nvSpPr>
          <p:cNvPr id="32" name="Right Arrow 31"/>
          <p:cNvSpPr/>
          <p:nvPr/>
        </p:nvSpPr>
        <p:spPr>
          <a:xfrm>
            <a:off x="14868144" y="3703320"/>
            <a:ext cx="256032" cy="365760"/>
          </a:xfrm>
          <a:prstGeom prst="rightArrow">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15179040" y="2377440"/>
            <a:ext cx="2560320" cy="3108960"/>
          </a:xfrm>
          <a:prstGeom prst="roundRect">
            <a:avLst>
              <a:gd name="adj" fmla="val 6000"/>
            </a:avLst>
          </a:prstGeom>
          <a:solidFill>
            <a:srgbClr val="F4F6F8"/>
          </a:solidFill>
          <a:ln w="12700">
            <a:solidFill>
              <a:srgbClr val="D9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5361920" y="2560320"/>
            <a:ext cx="502920" cy="502920"/>
          </a:xfrm>
          <a:prstGeom prst="ellipse">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2000" b="1">
                <a:solidFill>
                  <a:srgbClr val="FFFFFF"/>
                </a:solidFill>
                <a:latin typeface="Calibri"/>
              </a:rPr>
              <a:t>6</a:t>
            </a:r>
          </a:p>
        </p:txBody>
      </p:sp>
      <p:sp>
        <p:nvSpPr>
          <p:cNvPr id="35" name="TextBox 34"/>
          <p:cNvSpPr txBox="1"/>
          <p:nvPr/>
        </p:nvSpPr>
        <p:spPr>
          <a:xfrm>
            <a:off x="15270480" y="3200400"/>
            <a:ext cx="2377440" cy="822960"/>
          </a:xfrm>
          <a:prstGeom prst="rect">
            <a:avLst/>
          </a:prstGeom>
          <a:noFill/>
        </p:spPr>
        <p:txBody>
          <a:bodyPr wrap="square" lIns="73152" tIns="36576" rIns="73152" bIns="36576" anchor="t">
            <a:spAutoFit/>
          </a:bodyPr>
          <a:lstStyle/>
          <a:p>
            <a:pPr algn="l">
              <a:spcAft>
                <a:spcPts val="0"/>
              </a:spcAft>
            </a:pPr>
            <a:r>
              <a:rPr sz="2250" b="1">
                <a:solidFill>
                  <a:srgbClr val="1B2430"/>
                </a:solidFill>
                <a:latin typeface="Calibri"/>
              </a:rPr>
              <a:t>Paper alert</a:t>
            </a:r>
          </a:p>
        </p:txBody>
      </p:sp>
      <p:sp>
        <p:nvSpPr>
          <p:cNvPr id="36" name="TextBox 35"/>
          <p:cNvSpPr txBox="1"/>
          <p:nvPr/>
        </p:nvSpPr>
        <p:spPr>
          <a:xfrm>
            <a:off x="15270480" y="4069080"/>
            <a:ext cx="2377440" cy="1371600"/>
          </a:xfrm>
          <a:prstGeom prst="rect">
            <a:avLst/>
          </a:prstGeom>
          <a:noFill/>
        </p:spPr>
        <p:txBody>
          <a:bodyPr wrap="square" lIns="73152" tIns="36576" rIns="73152" bIns="36576" anchor="t">
            <a:spAutoFit/>
          </a:bodyPr>
          <a:lstStyle/>
          <a:p>
            <a:pPr algn="l">
              <a:spcAft>
                <a:spcPts val="0"/>
              </a:spcAft>
            </a:pPr>
            <a:r>
              <a:rPr sz="1750" b="0">
                <a:solidFill>
                  <a:srgbClr val="5B6B7B"/>
                </a:solidFill>
                <a:latin typeface="Calibri"/>
              </a:rPr>
              <a:t>In-app notice, then follow its outcome</a:t>
            </a:r>
          </a:p>
        </p:txBody>
      </p:sp>
      <p:sp>
        <p:nvSpPr>
          <p:cNvPr id="37" name="TextBox 36"/>
          <p:cNvSpPr txBox="1"/>
          <p:nvPr/>
        </p:nvSpPr>
        <p:spPr>
          <a:xfrm>
            <a:off x="548640" y="5852160"/>
            <a:ext cx="10972800" cy="457200"/>
          </a:xfrm>
          <a:prstGeom prst="rect">
            <a:avLst/>
          </a:prstGeom>
          <a:noFill/>
        </p:spPr>
        <p:txBody>
          <a:bodyPr wrap="square" lIns="73152" tIns="36576" rIns="73152" bIns="36576" anchor="t">
            <a:spAutoFit/>
          </a:bodyPr>
          <a:lstStyle/>
          <a:p>
            <a:pPr algn="l">
              <a:spcAft>
                <a:spcPts val="0"/>
              </a:spcAft>
            </a:pPr>
            <a:r>
              <a:rPr sz="2500" b="1">
                <a:solidFill>
                  <a:srgbClr val="1B2430"/>
                </a:solidFill>
                <a:latin typeface="Calibri"/>
              </a:rPr>
              <a:t>What makes it different</a:t>
            </a:r>
          </a:p>
        </p:txBody>
      </p:sp>
      <p:sp>
        <p:nvSpPr>
          <p:cNvPr id="38" name="Rounded Rectangle 37"/>
          <p:cNvSpPr/>
          <p:nvPr/>
        </p:nvSpPr>
        <p:spPr>
          <a:xfrm>
            <a:off x="548640" y="6446520"/>
            <a:ext cx="5486400" cy="2743200"/>
          </a:xfrm>
          <a:prstGeom prst="roundRect">
            <a:avLst>
              <a:gd name="adj" fmla="val 6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548640" y="6446520"/>
            <a:ext cx="5486400" cy="128016"/>
          </a:xfrm>
          <a:prstGeom prst="roundRect">
            <a:avLst>
              <a:gd name="adj" fmla="val 0"/>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77240" y="6766560"/>
            <a:ext cx="5029200" cy="548640"/>
          </a:xfrm>
          <a:prstGeom prst="rect">
            <a:avLst/>
          </a:prstGeom>
          <a:noFill/>
        </p:spPr>
        <p:txBody>
          <a:bodyPr wrap="square" lIns="73152" tIns="36576" rIns="73152" bIns="36576" anchor="t">
            <a:spAutoFit/>
          </a:bodyPr>
          <a:lstStyle/>
          <a:p>
            <a:pPr algn="l">
              <a:spcAft>
                <a:spcPts val="0"/>
              </a:spcAft>
            </a:pPr>
            <a:r>
              <a:rPr sz="2750" b="1">
                <a:solidFill>
                  <a:srgbClr val="F1D58C"/>
                </a:solidFill>
                <a:latin typeface="Montserrat"/>
              </a:rPr>
              <a:t>Point-in-time</a:t>
            </a:r>
          </a:p>
        </p:txBody>
      </p:sp>
      <p:sp>
        <p:nvSpPr>
          <p:cNvPr id="41" name="TextBox 40"/>
          <p:cNvSpPr txBox="1"/>
          <p:nvPr/>
        </p:nvSpPr>
        <p:spPr>
          <a:xfrm>
            <a:off x="777240" y="7498079"/>
            <a:ext cx="5029200" cy="1554480"/>
          </a:xfrm>
          <a:prstGeom prst="rect">
            <a:avLst/>
          </a:prstGeom>
          <a:noFill/>
        </p:spPr>
        <p:txBody>
          <a:bodyPr wrap="square" lIns="73152" tIns="36576" rIns="73152" bIns="36576" anchor="t">
            <a:spAutoFit/>
          </a:bodyPr>
          <a:lstStyle/>
          <a:p>
            <a:pPr algn="l">
              <a:spcAft>
                <a:spcPts val="0"/>
              </a:spcAft>
            </a:pPr>
            <a:r>
              <a:rPr sz="2000" b="0">
                <a:solidFill>
                  <a:srgbClr val="FFFFFF"/>
                </a:solidFill>
                <a:latin typeface="Calibri"/>
              </a:rPr>
              <a:t>Only records observed and available at the cutoff. Contract specs are immutable versions.</a:t>
            </a:r>
          </a:p>
        </p:txBody>
      </p:sp>
      <p:sp>
        <p:nvSpPr>
          <p:cNvPr id="42" name="Rounded Rectangle 41"/>
          <p:cNvSpPr/>
          <p:nvPr/>
        </p:nvSpPr>
        <p:spPr>
          <a:xfrm>
            <a:off x="6400800" y="6446520"/>
            <a:ext cx="5486400" cy="2743200"/>
          </a:xfrm>
          <a:prstGeom prst="roundRect">
            <a:avLst>
              <a:gd name="adj" fmla="val 6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400800" y="6446520"/>
            <a:ext cx="5486400" cy="128016"/>
          </a:xfrm>
          <a:prstGeom prst="roundRect">
            <a:avLst>
              <a:gd name="adj" fmla="val 0"/>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29400" y="6766560"/>
            <a:ext cx="5029200" cy="548640"/>
          </a:xfrm>
          <a:prstGeom prst="rect">
            <a:avLst/>
          </a:prstGeom>
          <a:noFill/>
        </p:spPr>
        <p:txBody>
          <a:bodyPr wrap="square" lIns="73152" tIns="36576" rIns="73152" bIns="36576" anchor="t">
            <a:spAutoFit/>
          </a:bodyPr>
          <a:lstStyle/>
          <a:p>
            <a:pPr algn="l">
              <a:spcAft>
                <a:spcPts val="0"/>
              </a:spcAft>
            </a:pPr>
            <a:r>
              <a:rPr sz="2750" b="1">
                <a:solidFill>
                  <a:srgbClr val="F1D58C"/>
                </a:solidFill>
                <a:latin typeface="Montserrat"/>
              </a:rPr>
              <a:t>Fails closed</a:t>
            </a:r>
          </a:p>
        </p:txBody>
      </p:sp>
      <p:sp>
        <p:nvSpPr>
          <p:cNvPr id="45" name="TextBox 44"/>
          <p:cNvSpPr txBox="1"/>
          <p:nvPr/>
        </p:nvSpPr>
        <p:spPr>
          <a:xfrm>
            <a:off x="6629400" y="7498079"/>
            <a:ext cx="5029200" cy="1554480"/>
          </a:xfrm>
          <a:prstGeom prst="rect">
            <a:avLst/>
          </a:prstGeom>
          <a:noFill/>
        </p:spPr>
        <p:txBody>
          <a:bodyPr wrap="square" lIns="73152" tIns="36576" rIns="73152" bIns="36576" anchor="t">
            <a:spAutoFit/>
          </a:bodyPr>
          <a:lstStyle/>
          <a:p>
            <a:pPr algn="l">
              <a:spcAft>
                <a:spcPts val="0"/>
              </a:spcAft>
            </a:pPr>
            <a:r>
              <a:rPr sz="2000" b="0">
                <a:solidFill>
                  <a:srgbClr val="FFFFFF"/>
                </a:solidFill>
                <a:latin typeface="Calibri"/>
              </a:rPr>
              <a:t>Missing, stale or unevaluated inputs give no alert. Real data never falls back to synthetic.</a:t>
            </a:r>
          </a:p>
        </p:txBody>
      </p:sp>
      <p:sp>
        <p:nvSpPr>
          <p:cNvPr id="46" name="Rounded Rectangle 45"/>
          <p:cNvSpPr/>
          <p:nvPr/>
        </p:nvSpPr>
        <p:spPr>
          <a:xfrm>
            <a:off x="12252960" y="6446520"/>
            <a:ext cx="5486400" cy="2743200"/>
          </a:xfrm>
          <a:prstGeom prst="roundRect">
            <a:avLst>
              <a:gd name="adj" fmla="val 6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12252960" y="6446520"/>
            <a:ext cx="5486400" cy="128016"/>
          </a:xfrm>
          <a:prstGeom prst="roundRect">
            <a:avLst>
              <a:gd name="adj" fmla="val 0"/>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2481560" y="6766560"/>
            <a:ext cx="5029200" cy="548640"/>
          </a:xfrm>
          <a:prstGeom prst="rect">
            <a:avLst/>
          </a:prstGeom>
          <a:noFill/>
        </p:spPr>
        <p:txBody>
          <a:bodyPr wrap="square" lIns="73152" tIns="36576" rIns="73152" bIns="36576" anchor="t">
            <a:spAutoFit/>
          </a:bodyPr>
          <a:lstStyle/>
          <a:p>
            <a:pPr algn="l">
              <a:spcAft>
                <a:spcPts val="0"/>
              </a:spcAft>
            </a:pPr>
            <a:r>
              <a:rPr sz="2750" b="1">
                <a:solidFill>
                  <a:srgbClr val="F1D58C"/>
                </a:solidFill>
                <a:latin typeface="Montserrat"/>
              </a:rPr>
              <a:t>Honest by design</a:t>
            </a:r>
          </a:p>
        </p:txBody>
      </p:sp>
      <p:sp>
        <p:nvSpPr>
          <p:cNvPr id="49" name="TextBox 48"/>
          <p:cNvSpPr txBox="1"/>
          <p:nvPr/>
        </p:nvSpPr>
        <p:spPr>
          <a:xfrm>
            <a:off x="12481560" y="7498079"/>
            <a:ext cx="5029200" cy="1554480"/>
          </a:xfrm>
          <a:prstGeom prst="rect">
            <a:avLst/>
          </a:prstGeom>
          <a:noFill/>
        </p:spPr>
        <p:txBody>
          <a:bodyPr wrap="square" lIns="73152" tIns="36576" rIns="73152" bIns="36576" anchor="t">
            <a:spAutoFit/>
          </a:bodyPr>
          <a:lstStyle/>
          <a:p>
            <a:pPr algn="l">
              <a:spcAft>
                <a:spcPts val="0"/>
              </a:spcAft>
            </a:pPr>
            <a:r>
              <a:rPr sz="2000" b="0">
                <a:solidFill>
                  <a:srgbClr val="FFFFFF"/>
                </a:solidFill>
                <a:latin typeface="Calibri"/>
              </a:rPr>
              <a:t>No probability until calibration is evaluated. Costs and liquidity are always shown.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p:nvPr/>
        </p:nvSpPr>
        <p:spPr>
          <a:xfrm>
            <a:off x="742427" y="1962522"/>
            <a:ext cx="4706682" cy="1073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ARCHITECTURE</a:t>
            </a:r>
            <a:endParaRPr/>
          </a:p>
          <a:p>
            <a:pPr marL="0" marR="0" lvl="0" indent="0" algn="ctr" rtl="0">
              <a:lnSpc>
                <a:spcPct val="140000"/>
              </a:lnSpc>
              <a:spcBef>
                <a:spcPts val="0"/>
              </a:spcBef>
              <a:spcAft>
                <a:spcPts val="0"/>
              </a:spcAft>
              <a:buNone/>
            </a:pPr>
            <a:endParaRPr sz="3095" b="1" i="0" u="none" strike="noStrike" cap="none">
              <a:solidFill>
                <a:srgbClr val="000000"/>
              </a:solidFill>
              <a:latin typeface="Montserrat"/>
              <a:ea typeface="Montserrat"/>
              <a:cs typeface="Montserrat"/>
              <a:sym typeface="Montserrat"/>
            </a:endParaRPr>
          </a:p>
        </p:txBody>
      </p:sp>
      <p:pic>
        <p:nvPicPr>
          <p:cNvPr id="116" name="Google Shape;116;p16"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3" name="TextBox 2">
            <a:extLst>
              <a:ext uri="{FF2B5EF4-FFF2-40B4-BE49-F238E27FC236}">
                <a16:creationId xmlns:a16="http://schemas.microsoft.com/office/drawing/2014/main" id="{71227026-46AF-7D5D-4838-A668F8BA0BD7}"/>
              </a:ext>
            </a:extLst>
          </p:cNvPr>
          <p:cNvSpPr txBox="1"/>
          <p:nvPr/>
        </p:nvSpPr>
        <p:spPr>
          <a:xfrm>
            <a:off x="1209368" y="2757948"/>
            <a:ext cx="11900000" cy="7017306"/>
          </a:xfrm>
          <a:prstGeom prst="rect">
            <a:avLst/>
          </a:prstGeom>
          <a:noFill/>
        </p:spPr>
        <p:txBody>
          <a:bodyPr wrap="square">
            <a:spAutoFit/>
          </a:bodyPr>
          <a:lstStyle/>
          <a:p>
            <a:pPr>
              <a:buNone/>
            </a:pPr>
            <a:r>
              <a:rPr lang="en-IN" sz="2500" b="1" dirty="0"/>
              <a:t>Tech stack</a:t>
            </a:r>
            <a:r>
              <a:rPr lang="en-IN" sz="2500" dirty="0"/>
              <a:t>:</a:t>
            </a:r>
          </a:p>
          <a:p>
            <a:pPr marL="342900" lvl="0" indent="-342900">
              <a:buFont typeface="Arial" panose="020B0604020202020204" pitchFamily="34" charset="0"/>
              <a:buChar char="•"/>
            </a:pPr>
            <a:r>
              <a:rPr lang="en-IN" sz="2500" b="1" dirty="0"/>
              <a:t>Next.js + TypeScript + Tailwind</a:t>
            </a:r>
            <a:r>
              <a:rPr lang="en-IN" sz="2500" dirty="0"/>
              <a:t> — dashboard UI</a:t>
            </a:r>
          </a:p>
          <a:p>
            <a:pPr marL="342900" lvl="0" indent="-342900">
              <a:buFont typeface="Arial" panose="020B0604020202020204" pitchFamily="34" charset="0"/>
              <a:buChar char="•"/>
            </a:pPr>
            <a:r>
              <a:rPr lang="en-IN" sz="2500" b="1" dirty="0"/>
              <a:t>Recharts</a:t>
            </a:r>
            <a:r>
              <a:rPr lang="en-IN" sz="2500" dirty="0"/>
              <a:t> — price, spread and z score charts</a:t>
            </a:r>
          </a:p>
          <a:p>
            <a:pPr marL="342900" lvl="0" indent="-342900">
              <a:buFont typeface="Arial" panose="020B0604020202020204" pitchFamily="34" charset="0"/>
              <a:buChar char="•"/>
            </a:pPr>
            <a:r>
              <a:rPr lang="en-IN" sz="2500" b="1" dirty="0"/>
              <a:t>FastAPI + Pydantic</a:t>
            </a:r>
            <a:r>
              <a:rPr lang="en-IN" sz="2500" dirty="0"/>
              <a:t> — API with clearly defined data formats</a:t>
            </a:r>
          </a:p>
          <a:p>
            <a:pPr marL="342900" lvl="0" indent="-342900">
              <a:buFont typeface="Arial" panose="020B0604020202020204" pitchFamily="34" charset="0"/>
              <a:buChar char="•"/>
            </a:pPr>
            <a:r>
              <a:rPr lang="en-IN" sz="2500" b="1" dirty="0"/>
              <a:t>Pandas / NumPy</a:t>
            </a:r>
            <a:r>
              <a:rPr lang="en-IN" sz="2500" dirty="0"/>
              <a:t> — normalization and statistics</a:t>
            </a:r>
          </a:p>
          <a:p>
            <a:pPr marL="342900" lvl="0" indent="-342900">
              <a:buFont typeface="Arial" panose="020B0604020202020204" pitchFamily="34" charset="0"/>
              <a:buChar char="•"/>
            </a:pPr>
            <a:r>
              <a:rPr lang="en-IN" sz="2500" b="1" dirty="0"/>
              <a:t>SQLite + SQLAlchemy</a:t>
            </a:r>
            <a:r>
              <a:rPr lang="en-IN" sz="2500" dirty="0"/>
              <a:t> — local data storage</a:t>
            </a:r>
          </a:p>
          <a:p>
            <a:pPr marL="342900" lvl="0" indent="-342900">
              <a:buFont typeface="Arial" panose="020B0604020202020204" pitchFamily="34" charset="0"/>
              <a:buChar char="•"/>
            </a:pPr>
            <a:r>
              <a:rPr lang="en-IN" sz="2500" b="1" dirty="0"/>
              <a:t>pytest</a:t>
            </a:r>
            <a:r>
              <a:rPr lang="en-IN" sz="2500" dirty="0"/>
              <a:t> — tests that check pricing, signals and backtest are correct</a:t>
            </a:r>
          </a:p>
          <a:p>
            <a:pPr>
              <a:buNone/>
            </a:pPr>
            <a:endParaRPr lang="en-IN" sz="2500" dirty="0"/>
          </a:p>
          <a:p>
            <a:pPr>
              <a:buNone/>
            </a:pPr>
            <a:r>
              <a:rPr lang="en-IN" sz="2500" b="1" dirty="0"/>
              <a:t>Data flow:</a:t>
            </a:r>
          </a:p>
          <a:p>
            <a:pPr>
              <a:buNone/>
            </a:pPr>
            <a:r>
              <a:rPr lang="en-IN" sz="2500" b="1" dirty="0"/>
              <a:t>Daily prices (CSV or sample data) → validation → normalization → exact expiry matching → spread and z score signals → backtest → decision report</a:t>
            </a:r>
          </a:p>
          <a:p>
            <a:pPr>
              <a:buNone/>
            </a:pPr>
            <a:endParaRPr lang="en-IN" sz="2500" dirty="0"/>
          </a:p>
          <a:p>
            <a:pPr>
              <a:buNone/>
            </a:pPr>
            <a:r>
              <a:rPr lang="en-IN" sz="2500" b="1" dirty="0"/>
              <a:t>APIs used</a:t>
            </a:r>
            <a:r>
              <a:rPr lang="en-IN" sz="2500" dirty="0"/>
              <a:t>:</a:t>
            </a:r>
          </a:p>
          <a:p>
            <a:pPr marL="342900" lvl="0" indent="-342900">
              <a:buFont typeface="Arial" panose="020B0604020202020204" pitchFamily="34" charset="0"/>
              <a:buChar char="•"/>
            </a:pPr>
            <a:r>
              <a:rPr lang="en-IN" sz="2500" b="1" dirty="0"/>
              <a:t>REST endpoints</a:t>
            </a:r>
            <a:r>
              <a:rPr lang="en-IN" sz="2500" dirty="0"/>
              <a:t>: /health, /contracts, /prices, /spreads, /signals, POST /backtest</a:t>
            </a:r>
          </a:p>
          <a:p>
            <a:pPr marL="342900" lvl="0" indent="-342900">
              <a:buFont typeface="Arial" panose="020B0604020202020204" pitchFamily="34" charset="0"/>
              <a:buChar char="•"/>
            </a:pPr>
            <a:r>
              <a:rPr lang="en-IN" sz="2500" b="1" dirty="0"/>
              <a:t>MCX bhavcopy CSV</a:t>
            </a:r>
            <a:r>
              <a:rPr lang="en-IN" sz="2500" dirty="0"/>
              <a:t> (daily price file from MCX) loaded through a checked importer; a fixed sample dataset for the demo</a:t>
            </a:r>
          </a:p>
          <a:p>
            <a:pPr marL="342900" lvl="0" indent="-342900">
              <a:buFont typeface="Arial" panose="020B0604020202020204" pitchFamily="34" charset="0"/>
              <a:buChar char="•"/>
            </a:pPr>
            <a:r>
              <a:rPr lang="en-IN" sz="2500" b="1" dirty="0" err="1"/>
              <a:t>Tinyfish</a:t>
            </a:r>
            <a:r>
              <a:rPr lang="en-IN" sz="2500" b="1" dirty="0"/>
              <a:t>: </a:t>
            </a:r>
            <a:r>
              <a:rPr lang="en-IN" sz="2500" dirty="0"/>
              <a:t>We also plan on including </a:t>
            </a:r>
            <a:r>
              <a:rPr lang="en-IN" sz="2500" dirty="0" err="1"/>
              <a:t>tinyfish</a:t>
            </a:r>
            <a:r>
              <a:rPr lang="en-IN" sz="2500" dirty="0"/>
              <a:t> to keep a </a:t>
            </a:r>
            <a:r>
              <a:rPr lang="en-IN" sz="2500" dirty="0" err="1"/>
              <a:t>conitnous</a:t>
            </a:r>
            <a:r>
              <a:rPr lang="en-IN" sz="2500" dirty="0"/>
              <a:t> monitor on our datasets which we fetch nonstop by scrapping and accessing various sources.</a:t>
            </a:r>
            <a:endParaRPr lang="en-IN" sz="2500" b="1" dirty="0"/>
          </a:p>
        </p:txBody>
      </p:sp>
      <p:sp>
        <p:nvSpPr>
          <p:cNvPr id="1000" name="Flow step 1"/>
          <p:cNvSpPr/>
          <p:nvPr/>
        </p:nvSpPr>
        <p:spPr>
          <a:xfrm>
            <a:off x="13500000" y="2800000"/>
            <a:ext cx="4300000" cy="700000"/>
          </a:xfrm>
          <a:prstGeom prst="rect">
            <a:avLst/>
          </a:prstGeom>
          <a:solidFill>
            <a:srgbClr val="FFFFFF"/>
          </a:solidFill>
          <a:ln w="15875">
            <a:solidFill>
              <a:srgbClr val="000000"/>
            </a:solidFill>
          </a:ln>
        </p:spPr>
        <p:txBody>
          <a:bodyPr wrap="square" lIns="91440" tIns="45720" rIns="91440" bIns="45720" anchor="ctr">
            <a:noAutofit/>
          </a:bodyPr>
          <a:lstStyle/>
          <a:p>
            <a:pPr algn="ctr">
              <a:buNone/>
            </a:pPr>
            <a:r>
              <a:rPr lang="en-IN" sz="2000" dirty="0">
                <a:solidFill>
                  <a:srgbClr val="000000"/>
                </a:solidFill>
              </a:rPr>
              <a:t>Daily prices</a:t>
            </a:r>
          </a:p>
        </p:txBody>
      </p:sp>
      <p:cxnSp>
        <p:nvCxnSpPr>
          <p:cNvPr id="1001" name="Flow arrow 1"/>
          <p:cNvCxnSpPr/>
          <p:nvPr/>
        </p:nvCxnSpPr>
        <p:spPr>
          <a:xfrm>
            <a:off x="15650000" y="3500000"/>
            <a:ext cx="0" cy="300000"/>
          </a:xfrm>
          <a:prstGeom prst="line">
            <a:avLst/>
          </a:prstGeom>
          <a:ln w="15875">
            <a:solidFill>
              <a:srgbClr val="000000"/>
            </a:solidFill>
            <a:tailEnd type="triangle" w="med" len="med"/>
          </a:ln>
        </p:spPr>
      </p:cxnSp>
      <p:sp>
        <p:nvSpPr>
          <p:cNvPr id="1002" name="Flow step 2"/>
          <p:cNvSpPr/>
          <p:nvPr/>
        </p:nvSpPr>
        <p:spPr>
          <a:xfrm>
            <a:off x="13500000" y="3800000"/>
            <a:ext cx="4300000" cy="700000"/>
          </a:xfrm>
          <a:prstGeom prst="rect">
            <a:avLst/>
          </a:prstGeom>
          <a:solidFill>
            <a:srgbClr val="FFFFFF"/>
          </a:solidFill>
          <a:ln w="15875">
            <a:solidFill>
              <a:srgbClr val="000000"/>
            </a:solidFill>
          </a:ln>
        </p:spPr>
        <p:txBody>
          <a:bodyPr wrap="square" lIns="91440" tIns="45720" rIns="91440" bIns="45720" anchor="ctr">
            <a:noAutofit/>
          </a:bodyPr>
          <a:lstStyle/>
          <a:p>
            <a:pPr algn="ctr">
              <a:buNone/>
            </a:pPr>
            <a:r>
              <a:rPr lang="en-IN" sz="2000" dirty="0">
                <a:solidFill>
                  <a:srgbClr val="000000"/>
                </a:solidFill>
              </a:rPr>
              <a:t>Validation</a:t>
            </a:r>
          </a:p>
        </p:txBody>
      </p:sp>
      <p:cxnSp>
        <p:nvCxnSpPr>
          <p:cNvPr id="1003" name="Flow arrow 2"/>
          <p:cNvCxnSpPr/>
          <p:nvPr/>
        </p:nvCxnSpPr>
        <p:spPr>
          <a:xfrm>
            <a:off x="15650000" y="4500000"/>
            <a:ext cx="0" cy="300000"/>
          </a:xfrm>
          <a:prstGeom prst="line">
            <a:avLst/>
          </a:prstGeom>
          <a:ln w="15875">
            <a:solidFill>
              <a:srgbClr val="000000"/>
            </a:solidFill>
            <a:tailEnd type="triangle" w="med" len="med"/>
          </a:ln>
        </p:spPr>
      </p:cxnSp>
      <p:sp>
        <p:nvSpPr>
          <p:cNvPr id="1004" name="Flow step 3"/>
          <p:cNvSpPr/>
          <p:nvPr/>
        </p:nvSpPr>
        <p:spPr>
          <a:xfrm>
            <a:off x="13500000" y="4800000"/>
            <a:ext cx="4300000" cy="700000"/>
          </a:xfrm>
          <a:prstGeom prst="rect">
            <a:avLst/>
          </a:prstGeom>
          <a:solidFill>
            <a:srgbClr val="FFFFFF"/>
          </a:solidFill>
          <a:ln w="15875">
            <a:solidFill>
              <a:srgbClr val="000000"/>
            </a:solidFill>
          </a:ln>
        </p:spPr>
        <p:txBody>
          <a:bodyPr wrap="square" lIns="91440" tIns="45720" rIns="91440" bIns="45720" anchor="ctr">
            <a:noAutofit/>
          </a:bodyPr>
          <a:lstStyle/>
          <a:p>
            <a:pPr algn="ctr">
              <a:buNone/>
            </a:pPr>
            <a:r>
              <a:rPr lang="en-IN" sz="2000" dirty="0">
                <a:solidFill>
                  <a:srgbClr val="000000"/>
                </a:solidFill>
              </a:rPr>
              <a:t>Normalization</a:t>
            </a:r>
          </a:p>
        </p:txBody>
      </p:sp>
      <p:cxnSp>
        <p:nvCxnSpPr>
          <p:cNvPr id="1005" name="Flow arrow 3"/>
          <p:cNvCxnSpPr/>
          <p:nvPr/>
        </p:nvCxnSpPr>
        <p:spPr>
          <a:xfrm>
            <a:off x="15650000" y="5500000"/>
            <a:ext cx="0" cy="300000"/>
          </a:xfrm>
          <a:prstGeom prst="line">
            <a:avLst/>
          </a:prstGeom>
          <a:ln w="15875">
            <a:solidFill>
              <a:srgbClr val="000000"/>
            </a:solidFill>
            <a:tailEnd type="triangle" w="med" len="med"/>
          </a:ln>
        </p:spPr>
      </p:cxnSp>
      <p:sp>
        <p:nvSpPr>
          <p:cNvPr id="1006" name="Flow step 4"/>
          <p:cNvSpPr/>
          <p:nvPr/>
        </p:nvSpPr>
        <p:spPr>
          <a:xfrm>
            <a:off x="13500000" y="5800000"/>
            <a:ext cx="4300000" cy="700000"/>
          </a:xfrm>
          <a:prstGeom prst="rect">
            <a:avLst/>
          </a:prstGeom>
          <a:solidFill>
            <a:srgbClr val="FFFFFF"/>
          </a:solidFill>
          <a:ln w="15875">
            <a:solidFill>
              <a:srgbClr val="000000"/>
            </a:solidFill>
          </a:ln>
        </p:spPr>
        <p:txBody>
          <a:bodyPr wrap="square" lIns="91440" tIns="45720" rIns="91440" bIns="45720" anchor="ctr">
            <a:noAutofit/>
          </a:bodyPr>
          <a:lstStyle/>
          <a:p>
            <a:pPr algn="ctr">
              <a:buNone/>
            </a:pPr>
            <a:r>
              <a:rPr lang="en-IN" sz="2000" dirty="0">
                <a:solidFill>
                  <a:srgbClr val="000000"/>
                </a:solidFill>
              </a:rPr>
              <a:t>Exact expiry matching</a:t>
            </a:r>
          </a:p>
        </p:txBody>
      </p:sp>
      <p:cxnSp>
        <p:nvCxnSpPr>
          <p:cNvPr id="1007" name="Flow arrow 4"/>
          <p:cNvCxnSpPr/>
          <p:nvPr/>
        </p:nvCxnSpPr>
        <p:spPr>
          <a:xfrm>
            <a:off x="15650000" y="6500000"/>
            <a:ext cx="0" cy="300000"/>
          </a:xfrm>
          <a:prstGeom prst="line">
            <a:avLst/>
          </a:prstGeom>
          <a:ln w="15875">
            <a:solidFill>
              <a:srgbClr val="000000"/>
            </a:solidFill>
            <a:tailEnd type="triangle" w="med" len="med"/>
          </a:ln>
        </p:spPr>
      </p:cxnSp>
      <p:sp>
        <p:nvSpPr>
          <p:cNvPr id="1008" name="Flow step 5"/>
          <p:cNvSpPr/>
          <p:nvPr/>
        </p:nvSpPr>
        <p:spPr>
          <a:xfrm>
            <a:off x="13500000" y="6800000"/>
            <a:ext cx="4300000" cy="700000"/>
          </a:xfrm>
          <a:prstGeom prst="rect">
            <a:avLst/>
          </a:prstGeom>
          <a:solidFill>
            <a:srgbClr val="FFFFFF"/>
          </a:solidFill>
          <a:ln w="15875">
            <a:solidFill>
              <a:srgbClr val="000000"/>
            </a:solidFill>
          </a:ln>
        </p:spPr>
        <p:txBody>
          <a:bodyPr wrap="square" lIns="91440" tIns="45720" rIns="91440" bIns="45720" anchor="ctr">
            <a:noAutofit/>
          </a:bodyPr>
          <a:lstStyle/>
          <a:p>
            <a:pPr algn="ctr">
              <a:buNone/>
            </a:pPr>
            <a:r>
              <a:rPr lang="en-IN" sz="2000" dirty="0">
                <a:solidFill>
                  <a:srgbClr val="000000"/>
                </a:solidFill>
              </a:rPr>
              <a:t>Spread and z score signals</a:t>
            </a:r>
          </a:p>
        </p:txBody>
      </p:sp>
      <p:cxnSp>
        <p:nvCxnSpPr>
          <p:cNvPr id="1009" name="Flow arrow 5"/>
          <p:cNvCxnSpPr/>
          <p:nvPr/>
        </p:nvCxnSpPr>
        <p:spPr>
          <a:xfrm>
            <a:off x="15650000" y="7500000"/>
            <a:ext cx="0" cy="300000"/>
          </a:xfrm>
          <a:prstGeom prst="line">
            <a:avLst/>
          </a:prstGeom>
          <a:ln w="15875">
            <a:solidFill>
              <a:srgbClr val="000000"/>
            </a:solidFill>
            <a:tailEnd type="triangle" w="med" len="med"/>
          </a:ln>
        </p:spPr>
      </p:cxnSp>
      <p:sp>
        <p:nvSpPr>
          <p:cNvPr id="1010" name="Flow step 6"/>
          <p:cNvSpPr/>
          <p:nvPr/>
        </p:nvSpPr>
        <p:spPr>
          <a:xfrm>
            <a:off x="13500000" y="7800000"/>
            <a:ext cx="4300000" cy="700000"/>
          </a:xfrm>
          <a:prstGeom prst="rect">
            <a:avLst/>
          </a:prstGeom>
          <a:solidFill>
            <a:srgbClr val="FFFFFF"/>
          </a:solidFill>
          <a:ln w="15875">
            <a:solidFill>
              <a:srgbClr val="000000"/>
            </a:solidFill>
          </a:ln>
        </p:spPr>
        <p:txBody>
          <a:bodyPr wrap="square" lIns="91440" tIns="45720" rIns="91440" bIns="45720" anchor="ctr">
            <a:noAutofit/>
          </a:bodyPr>
          <a:lstStyle/>
          <a:p>
            <a:pPr algn="ctr">
              <a:buNone/>
            </a:pPr>
            <a:r>
              <a:rPr lang="en-IN" sz="2000" dirty="0">
                <a:solidFill>
                  <a:srgbClr val="000000"/>
                </a:solidFill>
              </a:rPr>
              <a:t>Backtest</a:t>
            </a:r>
          </a:p>
        </p:txBody>
      </p:sp>
      <p:cxnSp>
        <p:nvCxnSpPr>
          <p:cNvPr id="1011" name="Flow arrow 6"/>
          <p:cNvCxnSpPr/>
          <p:nvPr/>
        </p:nvCxnSpPr>
        <p:spPr>
          <a:xfrm>
            <a:off x="15650000" y="8500000"/>
            <a:ext cx="0" cy="300000"/>
          </a:xfrm>
          <a:prstGeom prst="line">
            <a:avLst/>
          </a:prstGeom>
          <a:ln w="15875">
            <a:solidFill>
              <a:srgbClr val="000000"/>
            </a:solidFill>
            <a:tailEnd type="triangle" w="med" len="med"/>
          </a:ln>
        </p:spPr>
      </p:cxnSp>
      <p:sp>
        <p:nvSpPr>
          <p:cNvPr id="1012" name="Flow step 7"/>
          <p:cNvSpPr/>
          <p:nvPr/>
        </p:nvSpPr>
        <p:spPr>
          <a:xfrm>
            <a:off x="13500000" y="8800000"/>
            <a:ext cx="4300000" cy="700000"/>
          </a:xfrm>
          <a:prstGeom prst="rect">
            <a:avLst/>
          </a:prstGeom>
          <a:solidFill>
            <a:srgbClr val="FFFFFF"/>
          </a:solidFill>
          <a:ln w="15875">
            <a:solidFill>
              <a:srgbClr val="000000"/>
            </a:solidFill>
          </a:ln>
        </p:spPr>
        <p:txBody>
          <a:bodyPr wrap="square" lIns="91440" tIns="45720" rIns="91440" bIns="45720" anchor="ctr">
            <a:noAutofit/>
          </a:bodyPr>
          <a:lstStyle/>
          <a:p>
            <a:pPr algn="ctr">
              <a:buNone/>
            </a:pPr>
            <a:r>
              <a:rPr lang="en-IN" sz="2000" b="1" dirty="0">
                <a:solidFill>
                  <a:srgbClr val="000000"/>
                </a:solidFill>
              </a:rPr>
              <a:t>Decision report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4.png"/>
          <p:cNvPicPr>
            <a:picLocks noChangeAspect="1"/>
          </p:cNvPicPr>
          <p:nvPr/>
        </p:nvPicPr>
        <p:blipFill>
          <a:blip r:embed="rId3"/>
          <a:stretch>
            <a:fillRect/>
          </a:stretch>
        </p:blipFill>
        <p:spPr>
          <a:xfrm>
            <a:off x="0" y="0"/>
            <a:ext cx="18288000" cy="1205517"/>
          </a:xfrm>
          <a:prstGeom prst="rect">
            <a:avLst/>
          </a:prstGeom>
        </p:spPr>
      </p:pic>
      <p:sp>
        <p:nvSpPr>
          <p:cNvPr id="6" name="TextBox 5"/>
          <p:cNvSpPr txBox="1"/>
          <p:nvPr/>
        </p:nvSpPr>
        <p:spPr>
          <a:xfrm>
            <a:off x="548640" y="1554480"/>
            <a:ext cx="17190720" cy="731520"/>
          </a:xfrm>
          <a:prstGeom prst="rect">
            <a:avLst/>
          </a:prstGeom>
          <a:noFill/>
        </p:spPr>
        <p:txBody>
          <a:bodyPr wrap="square" lIns="73152" tIns="36576" rIns="73152" bIns="36576" anchor="t">
            <a:spAutoFit/>
          </a:bodyPr>
          <a:lstStyle/>
          <a:p>
            <a:pPr algn="l">
              <a:spcAft>
                <a:spcPts val="0"/>
              </a:spcAft>
            </a:pPr>
            <a:r>
              <a:rPr sz="3000" b="1">
                <a:solidFill>
                  <a:srgbClr val="1B2430"/>
                </a:solidFill>
                <a:latin typeface="Montserrat"/>
              </a:rPr>
              <a:t>TWO SCREENS, ONE WORKFLOW</a:t>
            </a:r>
          </a:p>
        </p:txBody>
      </p:sp>
      <p:sp>
        <p:nvSpPr>
          <p:cNvPr id="8" name="Rounded Rectangle 7"/>
          <p:cNvSpPr/>
          <p:nvPr/>
        </p:nvSpPr>
        <p:spPr>
          <a:xfrm>
            <a:off x="475488" y="2286000"/>
            <a:ext cx="8467344" cy="5358384"/>
          </a:xfrm>
          <a:prstGeom prst="roundRect">
            <a:avLst>
              <a:gd name="adj" fmla="val 2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monitor.png"/>
          <p:cNvPicPr>
            <a:picLocks noChangeAspect="1"/>
          </p:cNvPicPr>
          <p:nvPr/>
        </p:nvPicPr>
        <p:blipFill>
          <a:blip r:embed="rId4"/>
          <a:stretch>
            <a:fillRect/>
          </a:stretch>
        </p:blipFill>
        <p:spPr>
          <a:xfrm>
            <a:off x="548640" y="2359152"/>
            <a:ext cx="8321040" cy="5202936"/>
          </a:xfrm>
          <a:prstGeom prst="rect">
            <a:avLst/>
          </a:prstGeom>
        </p:spPr>
      </p:pic>
      <p:sp>
        <p:nvSpPr>
          <p:cNvPr id="10" name="TextBox 9"/>
          <p:cNvSpPr txBox="1"/>
          <p:nvPr/>
        </p:nvSpPr>
        <p:spPr>
          <a:xfrm>
            <a:off x="548640" y="7772400"/>
            <a:ext cx="8321040" cy="411480"/>
          </a:xfrm>
          <a:prstGeom prst="rect">
            <a:avLst/>
          </a:prstGeom>
          <a:noFill/>
        </p:spPr>
        <p:txBody>
          <a:bodyPr wrap="square" lIns="73152" tIns="36576" rIns="73152" bIns="36576" anchor="t">
            <a:spAutoFit/>
          </a:bodyPr>
          <a:lstStyle/>
          <a:p>
            <a:pPr algn="l">
              <a:spcAft>
                <a:spcPts val="0"/>
              </a:spcAft>
            </a:pPr>
            <a:r>
              <a:rPr sz="2500" b="1">
                <a:solidFill>
                  <a:srgbClr val="1B2430"/>
                </a:solidFill>
                <a:latin typeface="Calibri"/>
              </a:rPr>
              <a:t>Monitor</a:t>
            </a:r>
          </a:p>
        </p:txBody>
      </p:sp>
      <p:sp>
        <p:nvSpPr>
          <p:cNvPr id="11" name="TextBox 10"/>
          <p:cNvSpPr txBox="1"/>
          <p:nvPr/>
        </p:nvSpPr>
        <p:spPr>
          <a:xfrm>
            <a:off x="548640" y="8183879"/>
            <a:ext cx="8321040" cy="411480"/>
          </a:xfrm>
          <a:prstGeom prst="rect">
            <a:avLst/>
          </a:prstGeom>
          <a:noFill/>
        </p:spPr>
        <p:txBody>
          <a:bodyPr wrap="square" lIns="73152" tIns="36576" rIns="73152" bIns="36576" anchor="t">
            <a:spAutoFit/>
          </a:bodyPr>
          <a:lstStyle/>
          <a:p>
            <a:pPr algn="l">
              <a:spcAft>
                <a:spcPts val="0"/>
              </a:spcAft>
            </a:pPr>
            <a:r>
              <a:rPr sz="1750" b="0">
                <a:solidFill>
                  <a:srgbClr val="5B6B7B"/>
                </a:solidFill>
                <a:latin typeface="Calibri"/>
              </a:rPr>
              <a:t>Watchlist by exact expiry, with freshness, source and availability time</a:t>
            </a:r>
          </a:p>
        </p:txBody>
      </p:sp>
      <p:sp>
        <p:nvSpPr>
          <p:cNvPr id="12" name="Rounded Rectangle 11"/>
          <p:cNvSpPr/>
          <p:nvPr/>
        </p:nvSpPr>
        <p:spPr>
          <a:xfrm>
            <a:off x="9345167" y="2286000"/>
            <a:ext cx="8467344" cy="5358384"/>
          </a:xfrm>
          <a:prstGeom prst="roundRect">
            <a:avLst>
              <a:gd name="adj" fmla="val 2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alerts-evidence.png"/>
          <p:cNvPicPr>
            <a:picLocks noChangeAspect="1"/>
          </p:cNvPicPr>
          <p:nvPr/>
        </p:nvPicPr>
        <p:blipFill>
          <a:blip r:embed="rId5"/>
          <a:stretch>
            <a:fillRect/>
          </a:stretch>
        </p:blipFill>
        <p:spPr>
          <a:xfrm>
            <a:off x="9418319" y="2359152"/>
            <a:ext cx="8321040" cy="5202936"/>
          </a:xfrm>
          <a:prstGeom prst="rect">
            <a:avLst/>
          </a:prstGeom>
        </p:spPr>
      </p:pic>
      <p:sp>
        <p:nvSpPr>
          <p:cNvPr id="14" name="TextBox 13"/>
          <p:cNvSpPr txBox="1"/>
          <p:nvPr/>
        </p:nvSpPr>
        <p:spPr>
          <a:xfrm>
            <a:off x="9418319" y="7772400"/>
            <a:ext cx="8321040" cy="411480"/>
          </a:xfrm>
          <a:prstGeom prst="rect">
            <a:avLst/>
          </a:prstGeom>
          <a:noFill/>
        </p:spPr>
        <p:txBody>
          <a:bodyPr wrap="square" lIns="73152" tIns="36576" rIns="73152" bIns="36576" anchor="t">
            <a:spAutoFit/>
          </a:bodyPr>
          <a:lstStyle/>
          <a:p>
            <a:pPr algn="l">
              <a:spcAft>
                <a:spcPts val="0"/>
              </a:spcAft>
            </a:pPr>
            <a:r>
              <a:rPr sz="2500" b="1">
                <a:solidFill>
                  <a:srgbClr val="1B2430"/>
                </a:solidFill>
                <a:latin typeface="Calibri"/>
              </a:rPr>
              <a:t>Alerts</a:t>
            </a:r>
          </a:p>
        </p:txBody>
      </p:sp>
      <p:sp>
        <p:nvSpPr>
          <p:cNvPr id="15" name="TextBox 14"/>
          <p:cNvSpPr txBox="1"/>
          <p:nvPr/>
        </p:nvSpPr>
        <p:spPr>
          <a:xfrm>
            <a:off x="9418319" y="8183879"/>
            <a:ext cx="8321040" cy="411480"/>
          </a:xfrm>
          <a:prstGeom prst="rect">
            <a:avLst/>
          </a:prstGeom>
          <a:noFill/>
        </p:spPr>
        <p:txBody>
          <a:bodyPr wrap="square" lIns="73152" tIns="36576" rIns="73152" bIns="36576" anchor="t">
            <a:spAutoFit/>
          </a:bodyPr>
          <a:lstStyle/>
          <a:p>
            <a:pPr algn="l">
              <a:spcAft>
                <a:spcPts val="0"/>
              </a:spcAft>
            </a:pPr>
            <a:r>
              <a:rPr sz="1750" b="0">
                <a:solidFill>
                  <a:srgbClr val="5B6B7B"/>
                </a:solidFill>
                <a:latin typeface="Calibri"/>
              </a:rPr>
              <a:t>What the evaluation supports, plus rules for each paper session</a:t>
            </a:r>
          </a:p>
        </p:txBody>
      </p:sp>
      <p:sp>
        <p:nvSpPr>
          <p:cNvPr id="16" name="Pentagon 15"/>
          <p:cNvSpPr/>
          <p:nvPr/>
        </p:nvSpPr>
        <p:spPr>
          <a:xfrm>
            <a:off x="548640" y="8915400"/>
            <a:ext cx="3246120" cy="640080"/>
          </a:xfrm>
          <a:prstGeom prst="homePlat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880" b="1">
                <a:solidFill>
                  <a:srgbClr val="FFFFFF"/>
                </a:solidFill>
                <a:latin typeface="Calibri"/>
              </a:rPr>
              <a:t>Watch exact contracts</a:t>
            </a:r>
          </a:p>
        </p:txBody>
      </p:sp>
      <p:sp>
        <p:nvSpPr>
          <p:cNvPr id="17" name="Pentagon 16"/>
          <p:cNvSpPr/>
          <p:nvPr/>
        </p:nvSpPr>
        <p:spPr>
          <a:xfrm>
            <a:off x="4023359" y="8915400"/>
            <a:ext cx="3246120" cy="640080"/>
          </a:xfrm>
          <a:prstGeom prst="homePlat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880" b="1">
                <a:solidFill>
                  <a:srgbClr val="FFFFFF"/>
                </a:solidFill>
                <a:latin typeface="Calibri"/>
              </a:rPr>
              <a:t>Set alert rules</a:t>
            </a:r>
          </a:p>
        </p:txBody>
      </p:sp>
      <p:sp>
        <p:nvSpPr>
          <p:cNvPr id="18" name="Pentagon 17"/>
          <p:cNvSpPr/>
          <p:nvPr/>
        </p:nvSpPr>
        <p:spPr>
          <a:xfrm>
            <a:off x="7498079" y="8915400"/>
            <a:ext cx="3246120" cy="640080"/>
          </a:xfrm>
          <a:prstGeom prst="homePlat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880" b="1">
                <a:solidFill>
                  <a:srgbClr val="FFFFFF"/>
                </a:solidFill>
                <a:latin typeface="Calibri"/>
              </a:rPr>
              <a:t>Scan at a cutoff</a:t>
            </a:r>
          </a:p>
        </p:txBody>
      </p:sp>
      <p:sp>
        <p:nvSpPr>
          <p:cNvPr id="19" name="Pentagon 18"/>
          <p:cNvSpPr/>
          <p:nvPr/>
        </p:nvSpPr>
        <p:spPr>
          <a:xfrm>
            <a:off x="10972799" y="8915400"/>
            <a:ext cx="3246120" cy="640080"/>
          </a:xfrm>
          <a:prstGeom prst="homePlat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880" b="1">
                <a:solidFill>
                  <a:srgbClr val="FFFFFF"/>
                </a:solidFill>
                <a:latin typeface="Calibri"/>
              </a:rPr>
              <a:t>Review evidence</a:t>
            </a:r>
          </a:p>
        </p:txBody>
      </p:sp>
      <p:sp>
        <p:nvSpPr>
          <p:cNvPr id="20" name="Pentagon 19"/>
          <p:cNvSpPr/>
          <p:nvPr/>
        </p:nvSpPr>
        <p:spPr>
          <a:xfrm>
            <a:off x="14447519" y="8915400"/>
            <a:ext cx="3246120" cy="640080"/>
          </a:xfrm>
          <a:prstGeom prst="homePlate">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1880" b="1">
                <a:solidFill>
                  <a:srgbClr val="FFFFFF"/>
                </a:solidFill>
                <a:latin typeface="Calibri"/>
              </a:rPr>
              <a:t>Follow paper outcome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p:nvPr/>
        </p:nvSpPr>
        <p:spPr>
          <a:xfrm>
            <a:off x="0" y="1913006"/>
            <a:ext cx="9064063" cy="5309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MARKET RESEARCH/ANALYSIS</a:t>
            </a:r>
            <a:endParaRPr/>
          </a:p>
        </p:txBody>
      </p:sp>
      <p:pic>
        <p:nvPicPr>
          <p:cNvPr id="125" name="Google Shape;125;p17"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3" name="TextBox 2">
            <a:extLst>
              <a:ext uri="{FF2B5EF4-FFF2-40B4-BE49-F238E27FC236}">
                <a16:creationId xmlns:a16="http://schemas.microsoft.com/office/drawing/2014/main" id="{16B8865F-D29D-9225-120B-C463BC5A9FE7}"/>
              </a:ext>
            </a:extLst>
          </p:cNvPr>
          <p:cNvSpPr txBox="1"/>
          <p:nvPr/>
        </p:nvSpPr>
        <p:spPr>
          <a:xfrm>
            <a:off x="309716" y="2934929"/>
            <a:ext cx="17639071" cy="7402026"/>
          </a:xfrm>
          <a:prstGeom prst="rect">
            <a:avLst/>
          </a:prstGeom>
          <a:noFill/>
        </p:spPr>
        <p:txBody>
          <a:bodyPr wrap="square">
            <a:spAutoFit/>
          </a:bodyPr>
          <a:lstStyle/>
          <a:p>
            <a:pPr>
              <a:buNone/>
            </a:pPr>
            <a:r>
              <a:rPr lang="en-IN" sz="2200" b="1" dirty="0"/>
              <a:t>Target users</a:t>
            </a:r>
            <a:r>
              <a:rPr lang="en-IN" sz="2200" dirty="0"/>
              <a:t>:</a:t>
            </a:r>
          </a:p>
          <a:p>
            <a:pPr marL="342900" lvl="0" indent="-342900">
              <a:buFont typeface="Arial" panose="020B0604020202020204" pitchFamily="34" charset="0"/>
              <a:buChar char="•"/>
            </a:pPr>
            <a:r>
              <a:rPr lang="en-IN" sz="2200" dirty="0"/>
              <a:t>Individual and company commodity traders</a:t>
            </a:r>
          </a:p>
          <a:p>
            <a:pPr marL="342900" lvl="0" indent="-342900">
              <a:buFont typeface="Arial" panose="020B0604020202020204" pitchFamily="34" charset="0"/>
              <a:buChar char="•"/>
            </a:pPr>
            <a:r>
              <a:rPr lang="en-IN" sz="2200" dirty="0"/>
              <a:t>Analysts and researchers studying gold futures</a:t>
            </a:r>
          </a:p>
          <a:p>
            <a:pPr marL="342900" lvl="0" indent="-342900">
              <a:buFont typeface="Arial" panose="020B0604020202020204" pitchFamily="34" charset="0"/>
              <a:buChar char="•"/>
            </a:pPr>
            <a:r>
              <a:rPr lang="en-IN" sz="2200" dirty="0"/>
              <a:t>Brokerages and fintech apps that need analytics tools</a:t>
            </a:r>
          </a:p>
          <a:p>
            <a:pPr marL="342900" lvl="0" indent="-342900">
              <a:buFont typeface="Arial" panose="020B0604020202020204" pitchFamily="34" charset="0"/>
              <a:buChar char="•"/>
            </a:pPr>
            <a:r>
              <a:rPr lang="en-IN" sz="2200" dirty="0"/>
              <a:t>Finance students and educators</a:t>
            </a:r>
          </a:p>
          <a:p>
            <a:pPr>
              <a:buNone/>
            </a:pPr>
            <a:endParaRPr lang="en-IN" sz="2200"/>
          </a:p>
          <a:p>
            <a:pPr>
              <a:buNone/>
            </a:pPr>
            <a:r>
              <a:rPr lang="en-IN" sz="2200" b="1" dirty="0"/>
              <a:t>Market focus:</a:t>
            </a:r>
          </a:p>
          <a:p>
            <a:pPr>
              <a:buNone/>
            </a:pPr>
            <a:r>
              <a:rPr lang="en-IN" sz="2200" b="1" dirty="0"/>
              <a:t>India’s MCX gold futures</a:t>
            </a:r>
            <a:r>
              <a:rPr lang="en-IN" sz="2200" dirty="0"/>
              <a:t> (GOLDM, GOLDTEN, GOLDGUINEA, GOLDPETAL). We have not yet researched how big the market is and will check this later.</a:t>
            </a:r>
          </a:p>
          <a:p>
            <a:pPr>
              <a:buNone/>
            </a:pPr>
            <a:r>
              <a:rPr lang="en-IN" sz="2200" b="1" dirty="0"/>
              <a:t>Potential revenue model</a:t>
            </a:r>
          </a:p>
          <a:p>
            <a:pPr marL="342900" lvl="0" indent="-342900">
              <a:buFont typeface="Arial" panose="020B0604020202020204" pitchFamily="34" charset="0"/>
              <a:buChar char="•"/>
            </a:pPr>
            <a:r>
              <a:rPr lang="en-IN" sz="2200" dirty="0"/>
              <a:t>Paid subscription for analytics access</a:t>
            </a:r>
          </a:p>
          <a:p>
            <a:pPr marL="342900" lvl="0" indent="-342900">
              <a:buFont typeface="Arial" panose="020B0604020202020204" pitchFamily="34" charset="0"/>
              <a:buChar char="•"/>
            </a:pPr>
            <a:r>
              <a:rPr lang="en-IN" sz="2200" dirty="0"/>
              <a:t>Premium features such as alerts and downloadable decision reports</a:t>
            </a:r>
          </a:p>
          <a:p>
            <a:pPr marL="342900" lvl="0" indent="-342900">
              <a:buFont typeface="Arial" panose="020B0604020202020204" pitchFamily="34" charset="0"/>
              <a:buChar char="•"/>
            </a:pPr>
            <a:r>
              <a:rPr lang="en-IN" sz="2200" dirty="0"/>
              <a:t>Licensing for brokerages and educational institutions</a:t>
            </a:r>
          </a:p>
          <a:p>
            <a:pPr>
              <a:buNone/>
            </a:pPr>
            <a:endParaRPr lang="en-IN" sz="2200"/>
          </a:p>
          <a:p>
            <a:pPr>
              <a:buNone/>
            </a:pPr>
            <a:r>
              <a:rPr lang="en-IN" sz="2200" b="1" dirty="0"/>
              <a:t>Differentiation:</a:t>
            </a:r>
          </a:p>
          <a:p>
            <a:pPr>
              <a:buNone/>
            </a:pPr>
            <a:r>
              <a:rPr lang="en-IN" sz="2200" dirty="0"/>
              <a:t>Clear and correct results instead of black box signals: every comparison shows exact contract dates, caveats and where the data came from.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4.png"/>
          <p:cNvPicPr>
            <a:picLocks noChangeAspect="1"/>
          </p:cNvPicPr>
          <p:nvPr/>
        </p:nvPicPr>
        <p:blipFill>
          <a:blip r:embed="rId3"/>
          <a:stretch>
            <a:fillRect/>
          </a:stretch>
        </p:blipFill>
        <p:spPr>
          <a:xfrm>
            <a:off x="0" y="0"/>
            <a:ext cx="18288000" cy="1205517"/>
          </a:xfrm>
          <a:prstGeom prst="rect">
            <a:avLst/>
          </a:prstGeom>
        </p:spPr>
      </p:pic>
      <p:sp>
        <p:nvSpPr>
          <p:cNvPr id="5" name="TextBox 4"/>
          <p:cNvSpPr txBox="1"/>
          <p:nvPr/>
        </p:nvSpPr>
        <p:spPr>
          <a:xfrm>
            <a:off x="548640" y="1280160"/>
            <a:ext cx="10972800" cy="812530"/>
          </a:xfrm>
          <a:prstGeom prst="rect">
            <a:avLst/>
          </a:prstGeom>
          <a:noFill/>
        </p:spPr>
        <p:txBody>
          <a:bodyPr wrap="square" lIns="73152" tIns="36576" rIns="73152" bIns="36576" anchor="t">
            <a:spAutoFit/>
          </a:bodyPr>
          <a:lstStyle/>
          <a:p>
            <a:pPr algn="l">
              <a:spcAft>
                <a:spcPts val="0"/>
              </a:spcAft>
            </a:pPr>
            <a:r>
              <a:rPr sz="4800" b="1">
                <a:solidFill>
                  <a:srgbClr val="C8962E"/>
                </a:solidFill>
                <a:latin typeface="Calibri"/>
              </a:rPr>
              <a:t>HOW THE PROTOTYPE WORKS</a:t>
            </a:r>
          </a:p>
        </p:txBody>
      </p:sp>
      <p:pic>
        <p:nvPicPr>
          <p:cNvPr id="9" name="Picture 8" descr="alert-card.png"/>
          <p:cNvPicPr>
            <a:picLocks noChangeAspect="1"/>
          </p:cNvPicPr>
          <p:nvPr/>
        </p:nvPicPr>
        <p:blipFill>
          <a:blip r:embed="rId4"/>
          <a:stretch>
            <a:fillRect/>
          </a:stretch>
        </p:blipFill>
        <p:spPr>
          <a:xfrm>
            <a:off x="45720" y="2332172"/>
            <a:ext cx="8138160" cy="7288204"/>
          </a:xfrm>
          <a:prstGeom prst="rect">
            <a:avLst/>
          </a:prstGeom>
        </p:spPr>
      </p:pic>
      <p:sp>
        <p:nvSpPr>
          <p:cNvPr id="10" name="Oval 9"/>
          <p:cNvSpPr/>
          <p:nvPr/>
        </p:nvSpPr>
        <p:spPr>
          <a:xfrm>
            <a:off x="8503920" y="2772376"/>
            <a:ext cx="502920" cy="502920"/>
          </a:xfrm>
          <a:prstGeom prst="ellipse">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2000" b="1">
                <a:solidFill>
                  <a:srgbClr val="FFFFFF"/>
                </a:solidFill>
                <a:latin typeface="Calibri"/>
              </a:rPr>
              <a:t>1</a:t>
            </a:r>
          </a:p>
        </p:txBody>
      </p:sp>
      <p:sp>
        <p:nvSpPr>
          <p:cNvPr id="11" name="TextBox 10"/>
          <p:cNvSpPr txBox="1"/>
          <p:nvPr/>
        </p:nvSpPr>
        <p:spPr>
          <a:xfrm>
            <a:off x="9326880" y="2589496"/>
            <a:ext cx="8412480" cy="411480"/>
          </a:xfrm>
          <a:prstGeom prst="rect">
            <a:avLst/>
          </a:prstGeom>
          <a:noFill/>
        </p:spPr>
        <p:txBody>
          <a:bodyPr wrap="square" lIns="73152" tIns="36576" rIns="73152" bIns="36576" anchor="t">
            <a:spAutoFit/>
          </a:bodyPr>
          <a:lstStyle/>
          <a:p>
            <a:pPr algn="l">
              <a:spcAft>
                <a:spcPts val="0"/>
              </a:spcAft>
            </a:pPr>
            <a:r>
              <a:rPr sz="2380" b="1">
                <a:solidFill>
                  <a:srgbClr val="1B2430"/>
                </a:solidFill>
                <a:latin typeface="Calibri"/>
              </a:rPr>
              <a:t>Identity and timing</a:t>
            </a:r>
          </a:p>
        </p:txBody>
      </p:sp>
      <p:sp>
        <p:nvSpPr>
          <p:cNvPr id="12" name="TextBox 11"/>
          <p:cNvSpPr txBox="1"/>
          <p:nvPr/>
        </p:nvSpPr>
        <p:spPr>
          <a:xfrm>
            <a:off x="9326880" y="3000976"/>
            <a:ext cx="8412480" cy="777240"/>
          </a:xfrm>
          <a:prstGeom prst="rect">
            <a:avLst/>
          </a:prstGeom>
          <a:noFill/>
        </p:spPr>
        <p:txBody>
          <a:bodyPr wrap="square" lIns="73152" tIns="36576" rIns="73152" bIns="36576" anchor="t">
            <a:spAutoFit/>
          </a:bodyPr>
          <a:lstStyle/>
          <a:p>
            <a:pPr algn="l">
              <a:spcAft>
                <a:spcPts val="0"/>
              </a:spcAft>
            </a:pPr>
            <a:r>
              <a:rPr sz="1880" b="0">
                <a:solidFill>
                  <a:srgbClr val="5B6B7B"/>
                </a:solidFill>
                <a:latin typeface="Calibri"/>
              </a:rPr>
              <a:t>Both contracts, exact expiry, signal time, five-session horizon, model version, expiry of the signal</a:t>
            </a:r>
          </a:p>
        </p:txBody>
      </p:sp>
      <p:sp>
        <p:nvSpPr>
          <p:cNvPr id="13" name="Oval 12"/>
          <p:cNvSpPr/>
          <p:nvPr/>
        </p:nvSpPr>
        <p:spPr>
          <a:xfrm>
            <a:off x="8503920" y="4445518"/>
            <a:ext cx="502920" cy="502920"/>
          </a:xfrm>
          <a:prstGeom prst="ellipse">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2000" b="1">
                <a:solidFill>
                  <a:srgbClr val="FFFFFF"/>
                </a:solidFill>
                <a:latin typeface="Calibri"/>
              </a:rPr>
              <a:t>2</a:t>
            </a:r>
          </a:p>
        </p:txBody>
      </p:sp>
      <p:sp>
        <p:nvSpPr>
          <p:cNvPr id="14" name="TextBox 13"/>
          <p:cNvSpPr txBox="1"/>
          <p:nvPr/>
        </p:nvSpPr>
        <p:spPr>
          <a:xfrm>
            <a:off x="9326880" y="4262638"/>
            <a:ext cx="8412480" cy="411480"/>
          </a:xfrm>
          <a:prstGeom prst="rect">
            <a:avLst/>
          </a:prstGeom>
          <a:noFill/>
        </p:spPr>
        <p:txBody>
          <a:bodyPr wrap="square" lIns="73152" tIns="36576" rIns="73152" bIns="36576" anchor="t">
            <a:spAutoFit/>
          </a:bodyPr>
          <a:lstStyle/>
          <a:p>
            <a:pPr algn="l">
              <a:spcAft>
                <a:spcPts val="0"/>
              </a:spcAft>
            </a:pPr>
            <a:r>
              <a:rPr sz="2380" b="1">
                <a:solidFill>
                  <a:srgbClr val="1B2430"/>
                </a:solidFill>
                <a:latin typeface="Calibri"/>
              </a:rPr>
              <a:t>Supporting observations</a:t>
            </a:r>
          </a:p>
        </p:txBody>
      </p:sp>
      <p:sp>
        <p:nvSpPr>
          <p:cNvPr id="15" name="TextBox 14"/>
          <p:cNvSpPr txBox="1"/>
          <p:nvPr/>
        </p:nvSpPr>
        <p:spPr>
          <a:xfrm>
            <a:off x="9326880" y="4674118"/>
            <a:ext cx="8412480" cy="777240"/>
          </a:xfrm>
          <a:prstGeom prst="rect">
            <a:avLst/>
          </a:prstGeom>
          <a:noFill/>
        </p:spPr>
        <p:txBody>
          <a:bodyPr wrap="square" lIns="73152" tIns="36576" rIns="73152" bIns="36576" anchor="t">
            <a:spAutoFit/>
          </a:bodyPr>
          <a:lstStyle/>
          <a:p>
            <a:pPr algn="l">
              <a:spcAft>
                <a:spcPts val="0"/>
              </a:spcAft>
            </a:pPr>
            <a:r>
              <a:rPr sz="1880" b="0">
                <a:solidFill>
                  <a:srgbClr val="5B6B7B"/>
                </a:solidFill>
                <a:latin typeface="Calibri"/>
              </a:rPr>
              <a:t>Z-score, spread and ten prior sessions. 22 source records with observed and available times. No probability: calibration is unevaluated</a:t>
            </a:r>
          </a:p>
        </p:txBody>
      </p:sp>
      <p:sp>
        <p:nvSpPr>
          <p:cNvPr id="16" name="Oval 15"/>
          <p:cNvSpPr/>
          <p:nvPr/>
        </p:nvSpPr>
        <p:spPr>
          <a:xfrm>
            <a:off x="8503920" y="5850956"/>
            <a:ext cx="502920" cy="502920"/>
          </a:xfrm>
          <a:prstGeom prst="ellipse">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2000" b="1">
                <a:solidFill>
                  <a:srgbClr val="FFFFFF"/>
                </a:solidFill>
                <a:latin typeface="Calibri"/>
              </a:rPr>
              <a:t>3</a:t>
            </a:r>
          </a:p>
        </p:txBody>
      </p:sp>
      <p:sp>
        <p:nvSpPr>
          <p:cNvPr id="17" name="TextBox 16"/>
          <p:cNvSpPr txBox="1"/>
          <p:nvPr/>
        </p:nvSpPr>
        <p:spPr>
          <a:xfrm>
            <a:off x="9326880" y="5668076"/>
            <a:ext cx="8412480" cy="411480"/>
          </a:xfrm>
          <a:prstGeom prst="rect">
            <a:avLst/>
          </a:prstGeom>
          <a:noFill/>
        </p:spPr>
        <p:txBody>
          <a:bodyPr wrap="square" lIns="73152" tIns="36576" rIns="73152" bIns="36576" anchor="t">
            <a:spAutoFit/>
          </a:bodyPr>
          <a:lstStyle/>
          <a:p>
            <a:pPr algn="l">
              <a:spcAft>
                <a:spcPts val="0"/>
              </a:spcAft>
            </a:pPr>
            <a:r>
              <a:rPr sz="2380" b="1">
                <a:solidFill>
                  <a:srgbClr val="1B2430"/>
                </a:solidFill>
                <a:latin typeface="Calibri"/>
              </a:rPr>
              <a:t>Estimated costs</a:t>
            </a:r>
          </a:p>
        </p:txBody>
      </p:sp>
      <p:sp>
        <p:nvSpPr>
          <p:cNvPr id="18" name="TextBox 17"/>
          <p:cNvSpPr txBox="1"/>
          <p:nvPr/>
        </p:nvSpPr>
        <p:spPr>
          <a:xfrm>
            <a:off x="9326880" y="6079556"/>
            <a:ext cx="8412480" cy="777240"/>
          </a:xfrm>
          <a:prstGeom prst="rect">
            <a:avLst/>
          </a:prstGeom>
          <a:noFill/>
        </p:spPr>
        <p:txBody>
          <a:bodyPr wrap="square" lIns="73152" tIns="36576" rIns="73152" bIns="36576" anchor="t">
            <a:spAutoFit/>
          </a:bodyPr>
          <a:lstStyle/>
          <a:p>
            <a:pPr algn="l">
              <a:spcAft>
                <a:spcPts val="0"/>
              </a:spcAft>
            </a:pPr>
            <a:r>
              <a:rPr sz="1880" b="0">
                <a:solidFill>
                  <a:srgbClr val="5B6B7B"/>
                </a:solidFill>
                <a:latin typeface="Calibri"/>
              </a:rPr>
              <a:t>BASE, STRESS and SEVERE, itemised for both legs, entry and exit</a:t>
            </a:r>
          </a:p>
        </p:txBody>
      </p:sp>
      <p:sp>
        <p:nvSpPr>
          <p:cNvPr id="19" name="Oval 18"/>
          <p:cNvSpPr/>
          <p:nvPr/>
        </p:nvSpPr>
        <p:spPr>
          <a:xfrm>
            <a:off x="8503920" y="7457172"/>
            <a:ext cx="502920" cy="502920"/>
          </a:xfrm>
          <a:prstGeom prst="ellipse">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2000" b="1">
                <a:solidFill>
                  <a:srgbClr val="FFFFFF"/>
                </a:solidFill>
                <a:latin typeface="Calibri"/>
              </a:rPr>
              <a:t>4</a:t>
            </a:r>
          </a:p>
        </p:txBody>
      </p:sp>
      <p:sp>
        <p:nvSpPr>
          <p:cNvPr id="20" name="TextBox 19"/>
          <p:cNvSpPr txBox="1"/>
          <p:nvPr/>
        </p:nvSpPr>
        <p:spPr>
          <a:xfrm>
            <a:off x="9326880" y="7274292"/>
            <a:ext cx="8412480" cy="411480"/>
          </a:xfrm>
          <a:prstGeom prst="rect">
            <a:avLst/>
          </a:prstGeom>
          <a:noFill/>
        </p:spPr>
        <p:txBody>
          <a:bodyPr wrap="square" lIns="73152" tIns="36576" rIns="73152" bIns="36576" anchor="t">
            <a:spAutoFit/>
          </a:bodyPr>
          <a:lstStyle/>
          <a:p>
            <a:pPr algn="l">
              <a:spcAft>
                <a:spcPts val="0"/>
              </a:spcAft>
            </a:pPr>
            <a:r>
              <a:rPr sz="2380" b="1">
                <a:solidFill>
                  <a:srgbClr val="1B2430"/>
                </a:solidFill>
                <a:latin typeface="Calibri"/>
              </a:rPr>
              <a:t>Liquidity and settlement uncertainty</a:t>
            </a:r>
          </a:p>
        </p:txBody>
      </p:sp>
      <p:sp>
        <p:nvSpPr>
          <p:cNvPr id="21" name="TextBox 20"/>
          <p:cNvSpPr txBox="1"/>
          <p:nvPr/>
        </p:nvSpPr>
        <p:spPr>
          <a:xfrm>
            <a:off x="9326880" y="7685772"/>
            <a:ext cx="8412480" cy="777240"/>
          </a:xfrm>
          <a:prstGeom prst="rect">
            <a:avLst/>
          </a:prstGeom>
          <a:noFill/>
        </p:spPr>
        <p:txBody>
          <a:bodyPr wrap="square" lIns="73152" tIns="36576" rIns="73152" bIns="36576" anchor="t">
            <a:spAutoFit/>
          </a:bodyPr>
          <a:lstStyle/>
          <a:p>
            <a:pPr algn="l">
              <a:spcAft>
                <a:spcPts val="0"/>
              </a:spcAft>
            </a:pPr>
            <a:r>
              <a:rPr sz="1880" b="0">
                <a:solidFill>
                  <a:srgbClr val="5B6B7B"/>
                </a:solidFill>
                <a:latin typeface="Calibri"/>
              </a:rPr>
              <a:t>Daily proxies only. Delivery terms shown per leg. Nothing implied as guaranteed</a:t>
            </a:r>
          </a:p>
        </p:txBody>
      </p:sp>
      <p:sp>
        <p:nvSpPr>
          <p:cNvPr id="22" name="Oval 21"/>
          <p:cNvSpPr/>
          <p:nvPr/>
        </p:nvSpPr>
        <p:spPr>
          <a:xfrm>
            <a:off x="8503920" y="8594908"/>
            <a:ext cx="502920" cy="502920"/>
          </a:xfrm>
          <a:prstGeom prst="ellipse">
            <a:avLst/>
          </a:prstGeom>
          <a:solidFill>
            <a:srgbClr val="C8962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0"/>
              </a:spcAft>
            </a:pPr>
            <a:r>
              <a:rPr sz="2000" b="1">
                <a:solidFill>
                  <a:srgbClr val="FFFFFF"/>
                </a:solidFill>
                <a:latin typeface="Calibri"/>
              </a:rPr>
              <a:t>5</a:t>
            </a:r>
          </a:p>
        </p:txBody>
      </p:sp>
      <p:sp>
        <p:nvSpPr>
          <p:cNvPr id="23" name="TextBox 22"/>
          <p:cNvSpPr txBox="1"/>
          <p:nvPr/>
        </p:nvSpPr>
        <p:spPr>
          <a:xfrm>
            <a:off x="9326880" y="8412028"/>
            <a:ext cx="8412480" cy="411480"/>
          </a:xfrm>
          <a:prstGeom prst="rect">
            <a:avLst/>
          </a:prstGeom>
          <a:noFill/>
        </p:spPr>
        <p:txBody>
          <a:bodyPr wrap="square" lIns="73152" tIns="36576" rIns="73152" bIns="36576" anchor="t">
            <a:spAutoFit/>
          </a:bodyPr>
          <a:lstStyle/>
          <a:p>
            <a:pPr algn="l">
              <a:spcAft>
                <a:spcPts val="0"/>
              </a:spcAft>
            </a:pPr>
            <a:r>
              <a:rPr sz="2380" b="1">
                <a:solidFill>
                  <a:srgbClr val="1B2430"/>
                </a:solidFill>
                <a:latin typeface="Calibri"/>
              </a:rPr>
              <a:t>Paper outcome</a:t>
            </a:r>
          </a:p>
        </p:txBody>
      </p:sp>
      <p:sp>
        <p:nvSpPr>
          <p:cNvPr id="24" name="TextBox 23"/>
          <p:cNvSpPr txBox="1"/>
          <p:nvPr/>
        </p:nvSpPr>
        <p:spPr>
          <a:xfrm>
            <a:off x="9326880" y="8823508"/>
            <a:ext cx="8412480" cy="777240"/>
          </a:xfrm>
          <a:prstGeom prst="rect">
            <a:avLst/>
          </a:prstGeom>
          <a:noFill/>
        </p:spPr>
        <p:txBody>
          <a:bodyPr wrap="square" lIns="73152" tIns="36576" rIns="73152" bIns="36576" anchor="t">
            <a:spAutoFit/>
          </a:bodyPr>
          <a:lstStyle/>
          <a:p>
            <a:pPr algn="l">
              <a:spcAft>
                <a:spcPts val="0"/>
              </a:spcAft>
            </a:pPr>
            <a:r>
              <a:rPr sz="1880" b="0">
                <a:solidFill>
                  <a:srgbClr val="5B6B7B"/>
                </a:solidFill>
                <a:latin typeface="Calibri"/>
              </a:rPr>
              <a:t>Pending until entry and exit dates are observed. Missing data is never counted as a loss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4.png"/>
          <p:cNvPicPr>
            <a:picLocks noChangeAspect="1"/>
          </p:cNvPicPr>
          <p:nvPr/>
        </p:nvPicPr>
        <p:blipFill>
          <a:blip r:embed="rId3"/>
          <a:stretch>
            <a:fillRect/>
          </a:stretch>
        </p:blipFill>
        <p:spPr>
          <a:xfrm>
            <a:off x="0" y="0"/>
            <a:ext cx="18288000" cy="1205517"/>
          </a:xfrm>
          <a:prstGeom prst="rect">
            <a:avLst/>
          </a:prstGeom>
        </p:spPr>
      </p:pic>
      <p:sp>
        <p:nvSpPr>
          <p:cNvPr id="5" name="TextBox 4"/>
          <p:cNvSpPr txBox="1"/>
          <p:nvPr/>
        </p:nvSpPr>
        <p:spPr>
          <a:xfrm>
            <a:off x="548640" y="1280160"/>
            <a:ext cx="10972800" cy="812530"/>
          </a:xfrm>
          <a:prstGeom prst="rect">
            <a:avLst/>
          </a:prstGeom>
          <a:noFill/>
        </p:spPr>
        <p:txBody>
          <a:bodyPr wrap="square" lIns="73152" tIns="36576" rIns="73152" bIns="36576" anchor="t">
            <a:spAutoFit/>
          </a:bodyPr>
          <a:lstStyle/>
          <a:p>
            <a:pPr algn="l">
              <a:spcAft>
                <a:spcPts val="0"/>
              </a:spcAft>
            </a:pPr>
            <a:r>
              <a:rPr sz="4800" b="1" dirty="0">
                <a:solidFill>
                  <a:srgbClr val="C8962E"/>
                </a:solidFill>
                <a:latin typeface="Calibri"/>
              </a:rPr>
              <a:t>CURRENT PROGRESS</a:t>
            </a:r>
          </a:p>
        </p:txBody>
      </p:sp>
      <p:sp>
        <p:nvSpPr>
          <p:cNvPr id="8" name="Rounded Rectangle 7"/>
          <p:cNvSpPr/>
          <p:nvPr/>
        </p:nvSpPr>
        <p:spPr>
          <a:xfrm>
            <a:off x="548640" y="2331720"/>
            <a:ext cx="4160520" cy="1600200"/>
          </a:xfrm>
          <a:prstGeom prst="roundRect">
            <a:avLst>
              <a:gd name="adj" fmla="val 6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377440"/>
            <a:ext cx="3840480" cy="868680"/>
          </a:xfrm>
          <a:prstGeom prst="rect">
            <a:avLst/>
          </a:prstGeom>
          <a:noFill/>
        </p:spPr>
        <p:txBody>
          <a:bodyPr wrap="square" lIns="73152" tIns="36576" rIns="73152" bIns="36576" anchor="t">
            <a:spAutoFit/>
          </a:bodyPr>
          <a:lstStyle/>
          <a:p>
            <a:pPr algn="l">
              <a:spcAft>
                <a:spcPts val="0"/>
              </a:spcAft>
            </a:pPr>
            <a:r>
              <a:rPr sz="5500" b="1">
                <a:solidFill>
                  <a:srgbClr val="F1D58C"/>
                </a:solidFill>
                <a:latin typeface="Montserrat"/>
              </a:rPr>
              <a:t>165</a:t>
            </a:r>
          </a:p>
        </p:txBody>
      </p:sp>
      <p:sp>
        <p:nvSpPr>
          <p:cNvPr id="10" name="TextBox 9"/>
          <p:cNvSpPr txBox="1"/>
          <p:nvPr/>
        </p:nvSpPr>
        <p:spPr>
          <a:xfrm>
            <a:off x="685800" y="3200400"/>
            <a:ext cx="3840480" cy="640080"/>
          </a:xfrm>
          <a:prstGeom prst="rect">
            <a:avLst/>
          </a:prstGeom>
          <a:noFill/>
        </p:spPr>
        <p:txBody>
          <a:bodyPr wrap="square" lIns="73152" tIns="36576" rIns="73152" bIns="36576" anchor="t">
            <a:spAutoFit/>
          </a:bodyPr>
          <a:lstStyle/>
          <a:p>
            <a:pPr algn="l">
              <a:spcAft>
                <a:spcPts val="0"/>
              </a:spcAft>
            </a:pPr>
            <a:r>
              <a:rPr sz="1880" b="0">
                <a:solidFill>
                  <a:srgbClr val="FFFFFF"/>
                </a:solidFill>
                <a:latin typeface="Calibri"/>
              </a:rPr>
              <a:t>backend tests passing</a:t>
            </a:r>
          </a:p>
        </p:txBody>
      </p:sp>
      <p:sp>
        <p:nvSpPr>
          <p:cNvPr id="11" name="Rounded Rectangle 10"/>
          <p:cNvSpPr/>
          <p:nvPr/>
        </p:nvSpPr>
        <p:spPr>
          <a:xfrm>
            <a:off x="4892040" y="2331720"/>
            <a:ext cx="4160520" cy="1600200"/>
          </a:xfrm>
          <a:prstGeom prst="roundRect">
            <a:avLst>
              <a:gd name="adj" fmla="val 6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0" y="2377440"/>
            <a:ext cx="3840480" cy="868680"/>
          </a:xfrm>
          <a:prstGeom prst="rect">
            <a:avLst/>
          </a:prstGeom>
          <a:noFill/>
        </p:spPr>
        <p:txBody>
          <a:bodyPr wrap="square" lIns="73152" tIns="36576" rIns="73152" bIns="36576" anchor="t">
            <a:spAutoFit/>
          </a:bodyPr>
          <a:lstStyle/>
          <a:p>
            <a:pPr algn="l">
              <a:spcAft>
                <a:spcPts val="0"/>
              </a:spcAft>
            </a:pPr>
            <a:r>
              <a:rPr sz="5500" b="1">
                <a:solidFill>
                  <a:srgbClr val="F1D58C"/>
                </a:solidFill>
                <a:latin typeface="Montserrat"/>
              </a:rPr>
              <a:t>17</a:t>
            </a:r>
          </a:p>
        </p:txBody>
      </p:sp>
      <p:sp>
        <p:nvSpPr>
          <p:cNvPr id="13" name="TextBox 12"/>
          <p:cNvSpPr txBox="1"/>
          <p:nvPr/>
        </p:nvSpPr>
        <p:spPr>
          <a:xfrm>
            <a:off x="5029200" y="3200400"/>
            <a:ext cx="3840480" cy="640080"/>
          </a:xfrm>
          <a:prstGeom prst="rect">
            <a:avLst/>
          </a:prstGeom>
          <a:noFill/>
        </p:spPr>
        <p:txBody>
          <a:bodyPr wrap="square" lIns="73152" tIns="36576" rIns="73152" bIns="36576" anchor="t">
            <a:spAutoFit/>
          </a:bodyPr>
          <a:lstStyle/>
          <a:p>
            <a:pPr algn="l">
              <a:spcAft>
                <a:spcPts val="0"/>
              </a:spcAft>
            </a:pPr>
            <a:r>
              <a:rPr sz="1880" b="0">
                <a:solidFill>
                  <a:srgbClr val="FFFFFF"/>
                </a:solidFill>
                <a:latin typeface="Calibri"/>
              </a:rPr>
              <a:t>browser check groups passing: 10 Alerts, 7 Monitor</a:t>
            </a:r>
          </a:p>
        </p:txBody>
      </p:sp>
      <p:sp>
        <p:nvSpPr>
          <p:cNvPr id="14" name="Rounded Rectangle 13"/>
          <p:cNvSpPr/>
          <p:nvPr/>
        </p:nvSpPr>
        <p:spPr>
          <a:xfrm>
            <a:off x="9235440" y="2331720"/>
            <a:ext cx="4160520" cy="1600200"/>
          </a:xfrm>
          <a:prstGeom prst="roundRect">
            <a:avLst>
              <a:gd name="adj" fmla="val 6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72600" y="2377440"/>
            <a:ext cx="3840480" cy="868680"/>
          </a:xfrm>
          <a:prstGeom prst="rect">
            <a:avLst/>
          </a:prstGeom>
          <a:noFill/>
        </p:spPr>
        <p:txBody>
          <a:bodyPr wrap="square" lIns="73152" tIns="36576" rIns="73152" bIns="36576" anchor="t">
            <a:spAutoFit/>
          </a:bodyPr>
          <a:lstStyle/>
          <a:p>
            <a:pPr algn="l">
              <a:spcAft>
                <a:spcPts val="0"/>
              </a:spcAft>
            </a:pPr>
            <a:r>
              <a:rPr sz="5500" b="1">
                <a:solidFill>
                  <a:srgbClr val="F1D58C"/>
                </a:solidFill>
                <a:latin typeface="Montserrat"/>
              </a:rPr>
              <a:t>2</a:t>
            </a:r>
          </a:p>
        </p:txBody>
      </p:sp>
      <p:sp>
        <p:nvSpPr>
          <p:cNvPr id="16" name="TextBox 15"/>
          <p:cNvSpPr txBox="1"/>
          <p:nvPr/>
        </p:nvSpPr>
        <p:spPr>
          <a:xfrm>
            <a:off x="9372600" y="3200400"/>
            <a:ext cx="3840480" cy="640080"/>
          </a:xfrm>
          <a:prstGeom prst="rect">
            <a:avLst/>
          </a:prstGeom>
          <a:noFill/>
        </p:spPr>
        <p:txBody>
          <a:bodyPr wrap="square" lIns="73152" tIns="36576" rIns="73152" bIns="36576" anchor="t">
            <a:spAutoFit/>
          </a:bodyPr>
          <a:lstStyle/>
          <a:p>
            <a:pPr algn="l">
              <a:spcAft>
                <a:spcPts val="0"/>
              </a:spcAft>
            </a:pPr>
            <a:r>
              <a:rPr sz="1880" b="0">
                <a:solidFill>
                  <a:srgbClr val="FFFFFF"/>
                </a:solidFill>
                <a:latin typeface="Calibri"/>
              </a:rPr>
              <a:t>screens: Monitor and Alerts</a:t>
            </a:r>
          </a:p>
        </p:txBody>
      </p:sp>
      <p:sp>
        <p:nvSpPr>
          <p:cNvPr id="17" name="Rounded Rectangle 16"/>
          <p:cNvSpPr/>
          <p:nvPr/>
        </p:nvSpPr>
        <p:spPr>
          <a:xfrm>
            <a:off x="13578840" y="2331720"/>
            <a:ext cx="4160520" cy="1600200"/>
          </a:xfrm>
          <a:prstGeom prst="roundRect">
            <a:avLst>
              <a:gd name="adj" fmla="val 6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716000" y="2377440"/>
            <a:ext cx="3840480" cy="868680"/>
          </a:xfrm>
          <a:prstGeom prst="rect">
            <a:avLst/>
          </a:prstGeom>
          <a:noFill/>
        </p:spPr>
        <p:txBody>
          <a:bodyPr wrap="square" lIns="73152" tIns="36576" rIns="73152" bIns="36576" anchor="t">
            <a:spAutoFit/>
          </a:bodyPr>
          <a:lstStyle/>
          <a:p>
            <a:pPr algn="l">
              <a:spcAft>
                <a:spcPts val="0"/>
              </a:spcAft>
            </a:pPr>
            <a:r>
              <a:rPr sz="5500" b="1">
                <a:solidFill>
                  <a:srgbClr val="F1D58C"/>
                </a:solidFill>
                <a:latin typeface="Montserrat"/>
              </a:rPr>
              <a:t>1</a:t>
            </a:r>
          </a:p>
        </p:txBody>
      </p:sp>
      <p:sp>
        <p:nvSpPr>
          <p:cNvPr id="19" name="TextBox 18"/>
          <p:cNvSpPr txBox="1"/>
          <p:nvPr/>
        </p:nvSpPr>
        <p:spPr>
          <a:xfrm>
            <a:off x="13716000" y="3200400"/>
            <a:ext cx="3840480" cy="640080"/>
          </a:xfrm>
          <a:prstGeom prst="rect">
            <a:avLst/>
          </a:prstGeom>
          <a:noFill/>
        </p:spPr>
        <p:txBody>
          <a:bodyPr wrap="square" lIns="73152" tIns="36576" rIns="73152" bIns="36576" anchor="t">
            <a:spAutoFit/>
          </a:bodyPr>
          <a:lstStyle/>
          <a:p>
            <a:pPr algn="l">
              <a:spcAft>
                <a:spcPts val="0"/>
              </a:spcAft>
            </a:pPr>
            <a:r>
              <a:rPr sz="1880" b="0">
                <a:solidFill>
                  <a:srgbClr val="FFFFFF"/>
                </a:solidFill>
                <a:latin typeface="Calibri"/>
              </a:rPr>
              <a:t>evaluated model: opportunity-v1</a:t>
            </a:r>
          </a:p>
        </p:txBody>
      </p:sp>
      <p:sp>
        <p:nvSpPr>
          <p:cNvPr id="20" name="TextBox 19"/>
          <p:cNvSpPr txBox="1"/>
          <p:nvPr/>
        </p:nvSpPr>
        <p:spPr>
          <a:xfrm>
            <a:off x="548640" y="4251960"/>
            <a:ext cx="8229600" cy="457200"/>
          </a:xfrm>
          <a:prstGeom prst="rect">
            <a:avLst/>
          </a:prstGeom>
          <a:noFill/>
        </p:spPr>
        <p:txBody>
          <a:bodyPr wrap="square" lIns="73152" tIns="36576" rIns="73152" bIns="36576" anchor="t">
            <a:spAutoFit/>
          </a:bodyPr>
          <a:lstStyle/>
          <a:p>
            <a:pPr algn="l">
              <a:spcAft>
                <a:spcPts val="0"/>
              </a:spcAft>
            </a:pPr>
            <a:r>
              <a:rPr lang="en-IN" sz="2500" b="1" dirty="0">
                <a:solidFill>
                  <a:srgbClr val="2E8B57"/>
                </a:solidFill>
                <a:latin typeface="Calibri"/>
              </a:rPr>
              <a:t>         </a:t>
            </a:r>
            <a:r>
              <a:rPr sz="2500" b="1" dirty="0">
                <a:solidFill>
                  <a:srgbClr val="2E8B57"/>
                </a:solidFill>
                <a:latin typeface="Calibri"/>
              </a:rPr>
              <a:t>Built and verified</a:t>
            </a:r>
          </a:p>
        </p:txBody>
      </p:sp>
      <p:sp>
        <p:nvSpPr>
          <p:cNvPr id="21" name="TextBox 20"/>
          <p:cNvSpPr txBox="1"/>
          <p:nvPr/>
        </p:nvSpPr>
        <p:spPr>
          <a:xfrm>
            <a:off x="9418320" y="4251960"/>
            <a:ext cx="8229600" cy="457200"/>
          </a:xfrm>
          <a:prstGeom prst="rect">
            <a:avLst/>
          </a:prstGeom>
          <a:noFill/>
        </p:spPr>
        <p:txBody>
          <a:bodyPr wrap="square" lIns="73152" tIns="36576" rIns="73152" bIns="36576" anchor="t">
            <a:spAutoFit/>
          </a:bodyPr>
          <a:lstStyle/>
          <a:p>
            <a:pPr algn="l">
              <a:spcAft>
                <a:spcPts val="0"/>
              </a:spcAft>
            </a:pPr>
            <a:r>
              <a:rPr lang="en-IN" sz="2500" b="1" dirty="0">
                <a:solidFill>
                  <a:srgbClr val="B94A48"/>
                </a:solidFill>
                <a:latin typeface="Calibri"/>
              </a:rPr>
              <a:t>         </a:t>
            </a:r>
            <a:r>
              <a:rPr sz="2500" b="1" dirty="0">
                <a:solidFill>
                  <a:srgbClr val="B94A48"/>
                </a:solidFill>
                <a:latin typeface="Calibri"/>
              </a:rPr>
              <a:t>Not done yet</a:t>
            </a:r>
          </a:p>
        </p:txBody>
      </p:sp>
      <p:sp>
        <p:nvSpPr>
          <p:cNvPr id="23" name="TextBox 22"/>
          <p:cNvSpPr txBox="1"/>
          <p:nvPr/>
        </p:nvSpPr>
        <p:spPr>
          <a:xfrm>
            <a:off x="1188720" y="4846320"/>
            <a:ext cx="7772400" cy="685800"/>
          </a:xfrm>
          <a:prstGeom prst="rect">
            <a:avLst/>
          </a:prstGeom>
          <a:noFill/>
        </p:spPr>
        <p:txBody>
          <a:bodyPr wrap="square" lIns="73152" tIns="36576" rIns="73152" bIns="36576" anchor="ctr">
            <a:spAutoFit/>
          </a:bodyPr>
          <a:lstStyle/>
          <a:p>
            <a:pPr algn="l">
              <a:spcAft>
                <a:spcPts val="0"/>
              </a:spcAft>
            </a:pPr>
            <a:r>
              <a:rPr sz="2000" b="0" dirty="0">
                <a:solidFill>
                  <a:srgbClr val="1B2430"/>
                </a:solidFill>
                <a:latin typeface="Calibri"/>
              </a:rPr>
              <a:t>Monitor with exact-expiry watchlist and freshness</a:t>
            </a:r>
          </a:p>
        </p:txBody>
      </p:sp>
      <p:sp>
        <p:nvSpPr>
          <p:cNvPr id="25" name="TextBox 24"/>
          <p:cNvSpPr txBox="1"/>
          <p:nvPr/>
        </p:nvSpPr>
        <p:spPr>
          <a:xfrm>
            <a:off x="1188720" y="5715000"/>
            <a:ext cx="7772400" cy="685800"/>
          </a:xfrm>
          <a:prstGeom prst="rect">
            <a:avLst/>
          </a:prstGeom>
          <a:noFill/>
        </p:spPr>
        <p:txBody>
          <a:bodyPr wrap="square" lIns="73152" tIns="36576" rIns="73152" bIns="36576" anchor="ctr">
            <a:spAutoFit/>
          </a:bodyPr>
          <a:lstStyle/>
          <a:p>
            <a:pPr algn="l">
              <a:spcAft>
                <a:spcPts val="0"/>
              </a:spcAft>
            </a:pPr>
            <a:r>
              <a:rPr sz="2000" b="0" dirty="0">
                <a:solidFill>
                  <a:srgbClr val="1B2430"/>
                </a:solidFill>
                <a:latin typeface="Calibri"/>
              </a:rPr>
              <a:t>Versioned specs and point-in-time storage</a:t>
            </a:r>
          </a:p>
        </p:txBody>
      </p:sp>
      <p:sp>
        <p:nvSpPr>
          <p:cNvPr id="27" name="TextBox 26"/>
          <p:cNvSpPr txBox="1"/>
          <p:nvPr/>
        </p:nvSpPr>
        <p:spPr>
          <a:xfrm>
            <a:off x="1188720" y="6583679"/>
            <a:ext cx="7772400" cy="685800"/>
          </a:xfrm>
          <a:prstGeom prst="rect">
            <a:avLst/>
          </a:prstGeom>
          <a:noFill/>
        </p:spPr>
        <p:txBody>
          <a:bodyPr wrap="square" lIns="73152" tIns="36576" rIns="73152" bIns="36576" anchor="ctr">
            <a:spAutoFit/>
          </a:bodyPr>
          <a:lstStyle/>
          <a:p>
            <a:pPr algn="l">
              <a:spcAft>
                <a:spcPts val="0"/>
              </a:spcAft>
            </a:pPr>
            <a:r>
              <a:rPr sz="2000" b="0">
                <a:solidFill>
                  <a:srgbClr val="1B2430"/>
                </a:solidFill>
                <a:latin typeface="Calibri"/>
              </a:rPr>
              <a:t>Deterministic model with walk-forward evaluation</a:t>
            </a:r>
          </a:p>
        </p:txBody>
      </p:sp>
      <p:sp>
        <p:nvSpPr>
          <p:cNvPr id="29" name="TextBox 28"/>
          <p:cNvSpPr txBox="1"/>
          <p:nvPr/>
        </p:nvSpPr>
        <p:spPr>
          <a:xfrm>
            <a:off x="1188720" y="7452359"/>
            <a:ext cx="7772400" cy="685800"/>
          </a:xfrm>
          <a:prstGeom prst="rect">
            <a:avLst/>
          </a:prstGeom>
          <a:noFill/>
        </p:spPr>
        <p:txBody>
          <a:bodyPr wrap="square" lIns="73152" tIns="36576" rIns="73152" bIns="36576" anchor="ctr">
            <a:spAutoFit/>
          </a:bodyPr>
          <a:lstStyle/>
          <a:p>
            <a:pPr algn="l">
              <a:spcAft>
                <a:spcPts val="0"/>
              </a:spcAft>
            </a:pPr>
            <a:r>
              <a:rPr sz="2000" b="0">
                <a:solidFill>
                  <a:srgbClr val="1B2430"/>
                </a:solidFill>
                <a:latin typeface="Calibri"/>
              </a:rPr>
              <a:t>In-app paper alerts: dedup, cooldown, expiry, outcome history</a:t>
            </a:r>
          </a:p>
        </p:txBody>
      </p:sp>
      <p:sp>
        <p:nvSpPr>
          <p:cNvPr id="31" name="TextBox 30"/>
          <p:cNvSpPr txBox="1"/>
          <p:nvPr/>
        </p:nvSpPr>
        <p:spPr>
          <a:xfrm>
            <a:off x="1188720" y="8321040"/>
            <a:ext cx="7772400" cy="685800"/>
          </a:xfrm>
          <a:prstGeom prst="rect">
            <a:avLst/>
          </a:prstGeom>
          <a:noFill/>
        </p:spPr>
        <p:txBody>
          <a:bodyPr wrap="square" lIns="73152" tIns="36576" rIns="73152" bIns="36576" anchor="ctr">
            <a:spAutoFit/>
          </a:bodyPr>
          <a:lstStyle/>
          <a:p>
            <a:pPr algn="l">
              <a:spcAft>
                <a:spcPts val="0"/>
              </a:spcAft>
            </a:pPr>
            <a:r>
              <a:rPr sz="2000" b="0">
                <a:solidFill>
                  <a:srgbClr val="1B2430"/>
                </a:solidFill>
                <a:latin typeface="Calibri"/>
              </a:rPr>
              <a:t>Real-data failures stay failures, with no synthetic fallback</a:t>
            </a:r>
          </a:p>
        </p:txBody>
      </p:sp>
      <p:sp>
        <p:nvSpPr>
          <p:cNvPr id="33" name="TextBox 32"/>
          <p:cNvSpPr txBox="1"/>
          <p:nvPr/>
        </p:nvSpPr>
        <p:spPr>
          <a:xfrm>
            <a:off x="10058400" y="4846320"/>
            <a:ext cx="7680960" cy="685800"/>
          </a:xfrm>
          <a:prstGeom prst="rect">
            <a:avLst/>
          </a:prstGeom>
          <a:noFill/>
        </p:spPr>
        <p:txBody>
          <a:bodyPr wrap="square" lIns="73152" tIns="36576" rIns="73152" bIns="36576" anchor="ctr">
            <a:spAutoFit/>
          </a:bodyPr>
          <a:lstStyle/>
          <a:p>
            <a:pPr algn="l">
              <a:spcAft>
                <a:spcPts val="0"/>
              </a:spcAft>
            </a:pPr>
            <a:r>
              <a:rPr sz="2000" b="0">
                <a:solidFill>
                  <a:srgbClr val="1B2430"/>
                </a:solidFill>
                <a:latin typeface="Calibri"/>
              </a:rPr>
              <a:t>Load verified real MCX specifications and prices</a:t>
            </a:r>
          </a:p>
        </p:txBody>
      </p:sp>
      <p:sp>
        <p:nvSpPr>
          <p:cNvPr id="35" name="TextBox 34"/>
          <p:cNvSpPr txBox="1"/>
          <p:nvPr/>
        </p:nvSpPr>
        <p:spPr>
          <a:xfrm>
            <a:off x="10058400" y="5715000"/>
            <a:ext cx="7680960" cy="685800"/>
          </a:xfrm>
          <a:prstGeom prst="rect">
            <a:avLst/>
          </a:prstGeom>
          <a:noFill/>
        </p:spPr>
        <p:txBody>
          <a:bodyPr wrap="square" lIns="73152" tIns="36576" rIns="73152" bIns="36576" anchor="ctr">
            <a:spAutoFit/>
          </a:bodyPr>
          <a:lstStyle/>
          <a:p>
            <a:pPr algn="l">
              <a:spcAft>
                <a:spcPts val="0"/>
              </a:spcAft>
            </a:pPr>
            <a:r>
              <a:rPr sz="2000" b="0">
                <a:solidFill>
                  <a:srgbClr val="1B2430"/>
                </a:solidFill>
                <a:latin typeface="Calibri"/>
              </a:rPr>
              <a:t>Evaluate across several expiries and market regimes</a:t>
            </a:r>
          </a:p>
        </p:txBody>
      </p:sp>
      <p:sp>
        <p:nvSpPr>
          <p:cNvPr id="37" name="TextBox 36"/>
          <p:cNvSpPr txBox="1"/>
          <p:nvPr/>
        </p:nvSpPr>
        <p:spPr>
          <a:xfrm>
            <a:off x="10058400" y="6583679"/>
            <a:ext cx="7680960" cy="685800"/>
          </a:xfrm>
          <a:prstGeom prst="rect">
            <a:avLst/>
          </a:prstGeom>
          <a:noFill/>
        </p:spPr>
        <p:txBody>
          <a:bodyPr wrap="square" lIns="73152" tIns="36576" rIns="73152" bIns="36576" anchor="ctr">
            <a:spAutoFit/>
          </a:bodyPr>
          <a:lstStyle/>
          <a:p>
            <a:pPr algn="l">
              <a:spcAft>
                <a:spcPts val="0"/>
              </a:spcAft>
            </a:pPr>
            <a:r>
              <a:rPr sz="2000" b="0">
                <a:solidFill>
                  <a:srgbClr val="1B2430"/>
                </a:solidFill>
                <a:latin typeface="Calibri"/>
              </a:rPr>
              <a:t>Calibrate probabilities, only if evidence supports it</a:t>
            </a:r>
          </a:p>
        </p:txBody>
      </p:sp>
      <p:sp>
        <p:nvSpPr>
          <p:cNvPr id="39" name="TextBox 38"/>
          <p:cNvSpPr txBox="1"/>
          <p:nvPr/>
        </p:nvSpPr>
        <p:spPr>
          <a:xfrm>
            <a:off x="10058400" y="7452359"/>
            <a:ext cx="7680960" cy="685800"/>
          </a:xfrm>
          <a:prstGeom prst="rect">
            <a:avLst/>
          </a:prstGeom>
          <a:noFill/>
        </p:spPr>
        <p:txBody>
          <a:bodyPr wrap="square" lIns="73152" tIns="36576" rIns="73152" bIns="36576" anchor="ctr">
            <a:spAutoFit/>
          </a:bodyPr>
          <a:lstStyle/>
          <a:p>
            <a:pPr algn="l">
              <a:spcAft>
                <a:spcPts val="0"/>
              </a:spcAft>
            </a:pPr>
            <a:r>
              <a:rPr sz="2000" b="0">
                <a:solidFill>
                  <a:srgbClr val="1B2430"/>
                </a:solidFill>
                <a:latin typeface="Calibri"/>
              </a:rPr>
              <a:t>Measure real costs and liquidity; add scheduled scans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9"/>
          <p:cNvSpPr txBox="1"/>
          <p:nvPr/>
        </p:nvSpPr>
        <p:spPr>
          <a:xfrm>
            <a:off x="-1537303" y="1601204"/>
            <a:ext cx="9064063" cy="1073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DEMO FLOW &amp; GUARDRAILS</a:t>
            </a:r>
            <a:endParaRPr/>
          </a:p>
          <a:p>
            <a:pPr marL="0" marR="0" lvl="0" indent="0" algn="ctr" rtl="0">
              <a:lnSpc>
                <a:spcPct val="140000"/>
              </a:lnSpc>
              <a:spcBef>
                <a:spcPts val="0"/>
              </a:spcBef>
              <a:spcAft>
                <a:spcPts val="0"/>
              </a:spcAft>
              <a:buNone/>
            </a:pPr>
            <a:endParaRPr sz="3095" b="1" i="0" u="none" strike="noStrike" cap="none">
              <a:solidFill>
                <a:srgbClr val="000000"/>
              </a:solidFill>
              <a:latin typeface="Montserrat"/>
              <a:ea typeface="Montserrat"/>
              <a:cs typeface="Montserrat"/>
              <a:sym typeface="Montserrat"/>
            </a:endParaRPr>
          </a:p>
        </p:txBody>
      </p:sp>
      <p:grpSp>
        <p:nvGrpSpPr>
          <p:cNvPr id="140" name="Google Shape;140;p19"/>
          <p:cNvGrpSpPr/>
          <p:nvPr/>
        </p:nvGrpSpPr>
        <p:grpSpPr>
          <a:xfrm>
            <a:off x="2196451" y="2405409"/>
            <a:ext cx="11438558" cy="2738091"/>
            <a:chOff x="0" y="0"/>
            <a:chExt cx="15251410" cy="3650789"/>
          </a:xfrm>
        </p:grpSpPr>
        <p:sp>
          <p:nvSpPr>
            <p:cNvPr id="141" name="Google Shape;141;p19"/>
            <p:cNvSpPr txBox="1"/>
            <p:nvPr/>
          </p:nvSpPr>
          <p:spPr>
            <a:xfrm>
              <a:off x="0" y="0"/>
              <a:ext cx="15251400" cy="2456700"/>
            </a:xfrm>
            <a:prstGeom prst="rect">
              <a:avLst/>
            </a:prstGeom>
            <a:noFill/>
            <a:ln>
              <a:noFill/>
            </a:ln>
          </p:spPr>
          <p:txBody>
            <a:bodyPr spcFirstLastPara="1" wrap="square" lIns="0" tIns="0" rIns="0" bIns="0" anchor="t" anchorCtr="0">
              <a:spAutoFit/>
            </a:bodyPr>
            <a:lstStyle/>
            <a:p>
              <a:pPr marL="0" marR="0" lvl="0" indent="0" algn="l" rtl="0">
                <a:lnSpc>
                  <a:spcPct val="119986"/>
                </a:lnSpc>
                <a:spcBef>
                  <a:spcPts val="0"/>
                </a:spcBef>
                <a:spcAft>
                  <a:spcPts val="0"/>
                </a:spcAft>
                <a:buNone/>
              </a:pPr>
              <a:endParaRPr/>
            </a:p>
            <a:p>
              <a:pPr marL="653555" marR="0" lvl="1" indent="-326777" algn="l" rtl="0">
                <a:lnSpc>
                  <a:spcPct val="119986"/>
                </a:lnSpc>
                <a:spcBef>
                  <a:spcPts val="0"/>
                </a:spcBef>
                <a:spcAft>
                  <a:spcPts val="0"/>
                </a:spcAft>
                <a:buClr>
                  <a:srgbClr val="1D1D1F"/>
                </a:buClr>
                <a:buSzPts val="3027"/>
                <a:buFont typeface="Arial"/>
                <a:buChar char="•"/>
              </a:pPr>
              <a:r>
                <a:rPr lang="en-US" sz="3027" b="0" i="0" u="none" strike="noStrike" cap="none">
                  <a:solidFill>
                    <a:srgbClr val="1D1D1F"/>
                  </a:solidFill>
                  <a:latin typeface="IBM Plex Sans"/>
                  <a:ea typeface="IBM Plex Sans"/>
                  <a:cs typeface="IBM Plex Sans"/>
                  <a:sym typeface="IBM Plex Sans"/>
                </a:rPr>
                <a:t>Demo flow: compare → investigate → simulate → decision report</a:t>
              </a:r>
              <a:endParaRPr sz="3027">
                <a:solidFill>
                  <a:srgbClr val="1D1D1F"/>
                </a:solidFill>
                <a:latin typeface="IBM Plex Sans"/>
                <a:ea typeface="IBM Plex Sans"/>
                <a:cs typeface="IBM Plex Sans"/>
                <a:sym typeface="IBM Plex Sans"/>
              </a:endParaRPr>
            </a:p>
            <a:p>
              <a:pPr marL="653555" marR="0" lvl="1" indent="-326778" algn="l" rtl="0">
                <a:lnSpc>
                  <a:spcPct val="119986"/>
                </a:lnSpc>
                <a:spcBef>
                  <a:spcPts val="0"/>
                </a:spcBef>
                <a:spcAft>
                  <a:spcPts val="0"/>
                </a:spcAft>
                <a:buClr>
                  <a:srgbClr val="1D1D1F"/>
                </a:buClr>
                <a:buSzPts val="3027"/>
                <a:buFont typeface="IBM Plex Sans"/>
                <a:buChar char="•"/>
              </a:pPr>
              <a:r>
                <a:rPr lang="en-US" sz="3027">
                  <a:solidFill>
                    <a:srgbClr val="1D1D1F"/>
                  </a:solidFill>
                  <a:latin typeface="IBM Plex Sans"/>
                  <a:ea typeface="IBM Plex Sans"/>
                  <a:cs typeface="IBM Plex Sans"/>
                  <a:sym typeface="IBM Plex Sans"/>
                </a:rPr>
                <a:t>Guardrails: no made up data, no use of future data, no risk free claims</a:t>
              </a:r>
              <a:endParaRPr sz="3027">
                <a:solidFill>
                  <a:srgbClr val="1D1D1F"/>
                </a:solidFill>
                <a:latin typeface="IBM Plex Sans"/>
                <a:ea typeface="IBM Plex Sans"/>
                <a:cs typeface="IBM Plex Sans"/>
                <a:sym typeface="IBM Plex Sans"/>
              </a:endParaRPr>
            </a:p>
            <a:p>
              <a:pPr marL="0" marR="0" lvl="0" indent="0" algn="l" rtl="0">
                <a:lnSpc>
                  <a:spcPct val="119986"/>
                </a:lnSpc>
                <a:spcBef>
                  <a:spcPts val="0"/>
                </a:spcBef>
                <a:spcAft>
                  <a:spcPts val="0"/>
                </a:spcAft>
                <a:buNone/>
              </a:pPr>
              <a:endParaRPr sz="3027" b="0" i="0" u="none" strike="noStrike" cap="none">
                <a:solidFill>
                  <a:srgbClr val="1D1D1F"/>
                </a:solidFill>
                <a:latin typeface="IBM Plex Sans"/>
                <a:ea typeface="IBM Plex Sans"/>
                <a:cs typeface="IBM Plex Sans"/>
                <a:sym typeface="IBM Plex Sans"/>
              </a:endParaRPr>
            </a:p>
          </p:txBody>
        </p:sp>
        <p:sp>
          <p:nvSpPr>
            <p:cNvPr id="142" name="Google Shape;142;p19"/>
            <p:cNvSpPr txBox="1"/>
            <p:nvPr/>
          </p:nvSpPr>
          <p:spPr>
            <a:xfrm>
              <a:off x="1222710" y="3075840"/>
              <a:ext cx="14028700" cy="574949"/>
            </a:xfrm>
            <a:prstGeom prst="rect">
              <a:avLst/>
            </a:prstGeom>
            <a:noFill/>
            <a:ln>
              <a:noFill/>
            </a:ln>
          </p:spPr>
          <p:txBody>
            <a:bodyPr spcFirstLastPara="1" wrap="square" lIns="0" tIns="0" rIns="0" bIns="0" anchor="t" anchorCtr="0">
              <a:spAutoFit/>
            </a:bodyPr>
            <a:lstStyle/>
            <a:p>
              <a:pPr marL="0" marR="0" lvl="0" indent="0" algn="l" rtl="0">
                <a:lnSpc>
                  <a:spcPct val="185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43" name="Google Shape;143;p19" title="pptnlogo.png"/>
          <p:cNvPicPr preferRelativeResize="0"/>
          <p:nvPr/>
        </p:nvPicPr>
        <p:blipFill>
          <a:blip r:embed="rId3">
            <a:alphaModFix/>
          </a:blip>
          <a:stretch>
            <a:fillRect/>
          </a:stretch>
        </p:blipFill>
        <p:spPr>
          <a:xfrm>
            <a:off x="0" y="0"/>
            <a:ext cx="18288000" cy="1205517"/>
          </a:xfrm>
          <a:prstGeom prst="rect">
            <a:avLst/>
          </a:prstGeom>
          <a:noFill/>
          <a:ln>
            <a:noFill/>
          </a:ln>
        </p:spPr>
      </p:pic>
      <p:pic>
        <p:nvPicPr>
          <p:cNvPr id="900" name="Spread signal chart" descr="Illustrative synthetic chart: two normalized contract prices and a spread z score crossing the entry threshold"/>
          <p:cNvPicPr>
            <a:picLocks noChangeAspect="1"/>
          </p:cNvPicPr>
          <p:nvPr/>
        </p:nvPicPr>
        <p:blipFill>
          <a:blip r:embed="rId4"/>
          <a:stretch>
            <a:fillRect/>
          </a:stretch>
        </p:blipFill>
        <p:spPr>
          <a:xfrm>
            <a:off x="3600000" y="5200000"/>
            <a:ext cx="11000000" cy="460952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grpSp>
        <p:nvGrpSpPr>
          <p:cNvPr id="148" name="Google Shape;148;p20"/>
          <p:cNvGrpSpPr/>
          <p:nvPr/>
        </p:nvGrpSpPr>
        <p:grpSpPr>
          <a:xfrm>
            <a:off x="4239144" y="5736501"/>
            <a:ext cx="8898075" cy="2077107"/>
            <a:chOff x="0" y="180975"/>
            <a:chExt cx="11864100" cy="2769476"/>
          </a:xfrm>
        </p:grpSpPr>
        <p:sp>
          <p:nvSpPr>
            <p:cNvPr id="149" name="Google Shape;149;p20"/>
            <p:cNvSpPr txBox="1"/>
            <p:nvPr/>
          </p:nvSpPr>
          <p:spPr>
            <a:xfrm>
              <a:off x="0" y="180975"/>
              <a:ext cx="11864100" cy="369300"/>
            </a:xfrm>
            <a:prstGeom prst="rect">
              <a:avLst/>
            </a:prstGeom>
            <a:noFill/>
            <a:ln>
              <a:noFill/>
            </a:ln>
          </p:spPr>
          <p:txBody>
            <a:bodyPr spcFirstLastPara="1" wrap="square" lIns="0" tIns="0" rIns="0" bIns="0" anchor="t" anchorCtr="0">
              <a:spAutoFit/>
            </a:bodyPr>
            <a:lstStyle/>
            <a:p>
              <a:pPr marL="0" marR="0" lvl="0" indent="0" algn="ctr" rtl="0">
                <a:lnSpc>
                  <a:spcPct val="76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20"/>
            <p:cNvSpPr txBox="1"/>
            <p:nvPr/>
          </p:nvSpPr>
          <p:spPr>
            <a:xfrm>
              <a:off x="0" y="2581151"/>
              <a:ext cx="11864100" cy="369300"/>
            </a:xfrm>
            <a:prstGeom prst="rect">
              <a:avLst/>
            </a:prstGeom>
            <a:noFill/>
            <a:ln>
              <a:noFill/>
            </a:ln>
          </p:spPr>
          <p:txBody>
            <a:bodyPr spcFirstLastPara="1" wrap="square" lIns="0" tIns="0" rIns="0" bIns="0" anchor="t" anchorCtr="0">
              <a:spAutoFit/>
            </a:bodyPr>
            <a:lstStyle/>
            <a:p>
              <a:pPr marL="0" marR="0" lvl="0" indent="0" algn="ctr" rtl="0">
                <a:lnSpc>
                  <a:spcPct val="76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1" name="Google Shape;151;p20"/>
          <p:cNvGrpSpPr/>
          <p:nvPr/>
        </p:nvGrpSpPr>
        <p:grpSpPr>
          <a:xfrm>
            <a:off x="2554002" y="5409216"/>
            <a:ext cx="12268350" cy="1305429"/>
            <a:chOff x="0" y="19050"/>
            <a:chExt cx="16357800" cy="1740572"/>
          </a:xfrm>
        </p:grpSpPr>
        <p:sp>
          <p:nvSpPr>
            <p:cNvPr id="152" name="Google Shape;152;p20"/>
            <p:cNvSpPr txBox="1"/>
            <p:nvPr/>
          </p:nvSpPr>
          <p:spPr>
            <a:xfrm>
              <a:off x="0" y="19050"/>
              <a:ext cx="16357800" cy="369300"/>
            </a:xfrm>
            <a:prstGeom prst="rect">
              <a:avLst/>
            </a:prstGeom>
            <a:noFill/>
            <a:ln>
              <a:noFill/>
            </a:ln>
          </p:spPr>
          <p:txBody>
            <a:bodyPr spcFirstLastPara="1" wrap="square" lIns="0" tIns="0" rIns="0" bIns="0" anchor="t" anchorCtr="0">
              <a:spAutoFit/>
            </a:bodyPr>
            <a:lstStyle/>
            <a:p>
              <a:pPr marL="0" marR="0" lvl="0" indent="0" algn="ctr" rtl="0">
                <a:lnSpc>
                  <a:spcPct val="4091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3" name="Google Shape;153;p20"/>
            <p:cNvSpPr txBox="1"/>
            <p:nvPr/>
          </p:nvSpPr>
          <p:spPr>
            <a:xfrm>
              <a:off x="0" y="1390322"/>
              <a:ext cx="16357800" cy="369300"/>
            </a:xfrm>
            <a:prstGeom prst="rect">
              <a:avLst/>
            </a:prstGeom>
            <a:noFill/>
            <a:ln>
              <a:noFill/>
            </a:ln>
          </p:spPr>
          <p:txBody>
            <a:bodyPr spcFirstLastPara="1" wrap="square" lIns="0" tIns="0" rIns="0" bIns="0" anchor="t" anchorCtr="0">
              <a:spAutoFit/>
            </a:bodyPr>
            <a:lstStyle/>
            <a:p>
              <a:pPr marL="0" marR="0" lvl="0" indent="0" algn="ctr" rtl="0">
                <a:lnSpc>
                  <a:spcPct val="701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4" name="Google Shape;154;p20"/>
          <p:cNvGrpSpPr/>
          <p:nvPr/>
        </p:nvGrpSpPr>
        <p:grpSpPr>
          <a:xfrm>
            <a:off x="1873714" y="4696929"/>
            <a:ext cx="13628822" cy="4488047"/>
            <a:chOff x="2753902" y="4797891"/>
            <a:chExt cx="13628822" cy="4488047"/>
          </a:xfrm>
        </p:grpSpPr>
        <p:sp>
          <p:nvSpPr>
            <p:cNvPr id="155" name="Google Shape;155;p20"/>
            <p:cNvSpPr txBox="1"/>
            <p:nvPr/>
          </p:nvSpPr>
          <p:spPr>
            <a:xfrm rot="-348051">
              <a:off x="2847493" y="5401630"/>
              <a:ext cx="12071717" cy="2462422"/>
            </a:xfrm>
            <a:prstGeom prst="rect">
              <a:avLst/>
            </a:prstGeom>
            <a:noFill/>
            <a:ln>
              <a:noFill/>
            </a:ln>
          </p:spPr>
          <p:txBody>
            <a:bodyPr spcFirstLastPara="1" wrap="square" lIns="0" tIns="0" rIns="0" bIns="0" anchor="t" anchorCtr="0">
              <a:spAutoFit/>
            </a:bodyPr>
            <a:lstStyle/>
            <a:p>
              <a:pPr marL="0" marR="0" lvl="0" indent="0" algn="ctr" rtl="0">
                <a:lnSpc>
                  <a:spcPct val="54998"/>
                </a:lnSpc>
                <a:spcBef>
                  <a:spcPts val="0"/>
                </a:spcBef>
                <a:spcAft>
                  <a:spcPts val="0"/>
                </a:spcAft>
                <a:buNone/>
              </a:pPr>
              <a:r>
                <a:rPr lang="en-US" sz="29088" i="0" u="none" strike="noStrike" cap="none">
                  <a:solidFill>
                    <a:srgbClr val="1D1D1F"/>
                  </a:solidFill>
                  <a:latin typeface="Caveat"/>
                  <a:ea typeface="Caveat"/>
                  <a:cs typeface="Caveat"/>
                  <a:sym typeface="Caveat"/>
                </a:rPr>
                <a:t>Thank</a:t>
              </a:r>
              <a:endParaRPr>
                <a:latin typeface="Caveat"/>
                <a:ea typeface="Caveat"/>
                <a:cs typeface="Caveat"/>
                <a:sym typeface="Caveat"/>
              </a:endParaRPr>
            </a:p>
          </p:txBody>
        </p:sp>
        <p:sp>
          <p:nvSpPr>
            <p:cNvPr id="156" name="Google Shape;156;p20"/>
            <p:cNvSpPr txBox="1"/>
            <p:nvPr/>
          </p:nvSpPr>
          <p:spPr>
            <a:xfrm>
              <a:off x="4695023" y="6732039"/>
              <a:ext cx="11687700" cy="2553900"/>
            </a:xfrm>
            <a:prstGeom prst="rect">
              <a:avLst/>
            </a:prstGeom>
            <a:noFill/>
            <a:ln>
              <a:noFill/>
            </a:ln>
          </p:spPr>
          <p:txBody>
            <a:bodyPr spcFirstLastPara="1" wrap="square" lIns="0" tIns="0" rIns="0" bIns="0" anchor="t" anchorCtr="0">
              <a:spAutoFit/>
            </a:bodyPr>
            <a:lstStyle/>
            <a:p>
              <a:pPr marL="0" marR="0" lvl="0" indent="0" algn="ctr" rtl="0">
                <a:lnSpc>
                  <a:spcPct val="55000"/>
                </a:lnSpc>
                <a:spcBef>
                  <a:spcPts val="0"/>
                </a:spcBef>
                <a:spcAft>
                  <a:spcPts val="0"/>
                </a:spcAft>
                <a:buNone/>
              </a:pPr>
              <a:r>
                <a:rPr lang="en-US" sz="30167" i="0" u="none" strike="noStrike" cap="none">
                  <a:solidFill>
                    <a:srgbClr val="1D1D1F"/>
                  </a:solidFill>
                  <a:latin typeface="Caveat"/>
                  <a:ea typeface="Caveat"/>
                  <a:cs typeface="Caveat"/>
                  <a:sym typeface="Caveat"/>
                </a:rPr>
                <a:t>you!</a:t>
              </a:r>
              <a:endParaRPr>
                <a:latin typeface="Caveat"/>
                <a:ea typeface="Caveat"/>
                <a:cs typeface="Caveat"/>
                <a:sym typeface="Caveat"/>
              </a:endParaRPr>
            </a:p>
          </p:txBody>
        </p:sp>
      </p:grpSp>
      <p:pic>
        <p:nvPicPr>
          <p:cNvPr id="157" name="Google Shape;157;p20" title="download (2).jpg"/>
          <p:cNvPicPr preferRelativeResize="0"/>
          <p:nvPr/>
        </p:nvPicPr>
        <p:blipFill rotWithShape="1">
          <a:blip r:embed="rId3">
            <a:alphaModFix/>
          </a:blip>
          <a:srcRect l="38928" r="16455"/>
          <a:stretch/>
        </p:blipFill>
        <p:spPr>
          <a:xfrm rot="-5400000">
            <a:off x="7123100" y="-7111200"/>
            <a:ext cx="4088375" cy="18326624"/>
          </a:xfrm>
          <a:prstGeom prst="rect">
            <a:avLst/>
          </a:prstGeom>
          <a:noFill/>
          <a:ln>
            <a:noFill/>
          </a:ln>
        </p:spPr>
      </p:pic>
      <p:pic>
        <p:nvPicPr>
          <p:cNvPr id="158" name="Google Shape;158;p20"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159" name="Google Shape;159;p20"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890</TotalTime>
  <Words>1115</Words>
  <Application>Microsoft Office PowerPoint</Application>
  <PresentationFormat>Custom</PresentationFormat>
  <Paragraphs>135</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Calibri</vt:lpstr>
      <vt:lpstr>Montserrat</vt:lpstr>
      <vt:lpstr>Caveat</vt:lpstr>
      <vt:lpstr>Arial</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Johaan Liju</cp:lastModifiedBy>
  <cp:revision>6</cp:revision>
  <dcterms:modified xsi:type="dcterms:W3CDTF">2026-10-25T11:20:41Z</dcterms:modified>
</cp:coreProperties>
</file>