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8288000" cy="10287000"/>
  <p:notesSz cx="6858000" cy="9144000"/>
  <p:embeddedFontLst>
    <p:embeddedFont>
      <p:font typeface="Caveat" panose="020B0604020202020204" charset="0"/>
      <p:regular r:id="rId11"/>
      <p:bold r:id="rId12"/>
    </p:embeddedFont>
    <p:embeddedFont>
      <p:font typeface="IBM Plex Sans" panose="020B0503050203000203" pitchFamily="34" charset="0"/>
      <p:regular r:id="rId13"/>
      <p:bold r:id="rId14"/>
    </p:embeddedFont>
    <p:embeddedFont>
      <p:font typeface="Montserrat" panose="00000500000000000000" pitchFamily="2" charset="0"/>
      <p:regular r:id="rId15"/>
      <p:bold r:id="rId1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47" d="100"/>
          <a:sy n="47" d="100"/>
        </p:scale>
        <p:origin x="500" y="44"/>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3.fntdata"/><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2.fntdata"/><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6.fntdata"/><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1.fntdata"/><Relationship Id="rId5" Type="http://schemas.openxmlformats.org/officeDocument/2006/relationships/slide" Target="slides/slide4.xml"/><Relationship Id="rId15" Type="http://schemas.openxmlformats.org/officeDocument/2006/relationships/font" Target="fonts/font5.fntdata"/><Relationship Id="rId10" Type="http://schemas.openxmlformats.org/officeDocument/2006/relationships/notesMaster" Target="notesMasters/notesMaster1.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4.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2" name="Google Shape;92;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1" name="Google Shape;101;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0" name="Google Shape;110;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9" name="Google Shape;119;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8" name="Google Shape;128;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7" name="Google Shape;137;p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6" name="Google Shape;146;p1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3"/>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3"/>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5"/>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5"/>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6"/>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6"/>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7"/>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7"/>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7"/>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7"/>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0"/>
          <p:cNvSpPr>
            <a:spLocks noGrp="1"/>
          </p:cNvSpPr>
          <p:nvPr>
            <p:ph type="pic" idx="2"/>
          </p:nvPr>
        </p:nvSpPr>
        <p:spPr>
          <a:xfrm>
            <a:off x="1792288" y="612775"/>
            <a:ext cx="5486400" cy="4114800"/>
          </a:xfrm>
          <a:prstGeom prst="rect">
            <a:avLst/>
          </a:prstGeom>
          <a:noFill/>
          <a:ln>
            <a:noFill/>
          </a:ln>
        </p:spPr>
      </p:sp>
      <p:sp>
        <p:nvSpPr>
          <p:cNvPr id="64" name="Google Shape;64;p1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1"/>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2"/>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grpSp>
        <p:nvGrpSpPr>
          <p:cNvPr id="84" name="Google Shape;84;p13"/>
          <p:cNvGrpSpPr/>
          <p:nvPr/>
        </p:nvGrpSpPr>
        <p:grpSpPr>
          <a:xfrm>
            <a:off x="-1053997" y="4384600"/>
            <a:ext cx="15153455" cy="4159401"/>
            <a:chOff x="0" y="-114300"/>
            <a:chExt cx="20204608" cy="5545869"/>
          </a:xfrm>
        </p:grpSpPr>
        <p:sp>
          <p:nvSpPr>
            <p:cNvPr id="85" name="Google Shape;85;p13"/>
            <p:cNvSpPr txBox="1"/>
            <p:nvPr/>
          </p:nvSpPr>
          <p:spPr>
            <a:xfrm>
              <a:off x="0" y="-114300"/>
              <a:ext cx="8473247" cy="1339654"/>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6055" b="1" i="0" u="none" strike="noStrike" cap="none">
                  <a:solidFill>
                    <a:srgbClr val="1D1D1F"/>
                  </a:solidFill>
                  <a:latin typeface="Montserrat"/>
                  <a:ea typeface="Montserrat"/>
                  <a:cs typeface="Montserrat"/>
                  <a:sym typeface="Montserrat"/>
                </a:rPr>
                <a:t>TEAM</a:t>
              </a:r>
              <a:endParaRPr/>
            </a:p>
          </p:txBody>
        </p:sp>
        <p:sp>
          <p:nvSpPr>
            <p:cNvPr id="86" name="Google Shape;86;p13"/>
            <p:cNvSpPr txBox="1"/>
            <p:nvPr/>
          </p:nvSpPr>
          <p:spPr>
            <a:xfrm>
              <a:off x="4917498" y="1498355"/>
              <a:ext cx="15287110" cy="3933214"/>
            </a:xfrm>
            <a:prstGeom prst="rect">
              <a:avLst/>
            </a:prstGeom>
            <a:noFill/>
            <a:ln>
              <a:noFill/>
            </a:ln>
          </p:spPr>
          <p:txBody>
            <a:bodyPr spcFirstLastPara="1" wrap="square" lIns="0" tIns="0" rIns="0" bIns="0" anchor="t" anchorCtr="0">
              <a:spAutoFit/>
            </a:bodyPr>
            <a:lstStyle/>
            <a:p>
              <a:pPr lvl="0"/>
              <a:r>
                <a:rPr lang="en-US" sz="3169" b="1" i="0" u="none" strike="noStrike" cap="none" dirty="0">
                  <a:solidFill>
                    <a:srgbClr val="1D1D1F"/>
                  </a:solidFill>
                  <a:latin typeface="IBM Plex Sans"/>
                  <a:ea typeface="IBM Plex Sans"/>
                  <a:cs typeface="IBM Plex Sans"/>
                  <a:sym typeface="IBM Plex Sans"/>
                </a:rPr>
                <a:t> </a:t>
              </a:r>
            </a:p>
            <a:p>
              <a:pPr lvl="0"/>
              <a:r>
                <a:rPr lang="en-IN" sz="3200" b="1" dirty="0"/>
                <a:t>ERROR 404</a:t>
              </a:r>
            </a:p>
            <a:p>
              <a:pPr lvl="0"/>
              <a:endParaRPr lang="en-IN" sz="3200" dirty="0"/>
            </a:p>
            <a:p>
              <a:r>
                <a:rPr lang="en-IN" sz="3200" b="1" dirty="0"/>
                <a:t>Anjela Joseph</a:t>
              </a:r>
              <a:r>
                <a:rPr lang="en-IN" sz="3200" dirty="0"/>
                <a:t> — Backend and system integration</a:t>
              </a:r>
            </a:p>
            <a:p>
              <a:pPr lvl="0"/>
              <a:r>
                <a:rPr lang="en-IN" sz="3200" b="1" dirty="0"/>
                <a:t>Jose Mathew </a:t>
              </a:r>
              <a:r>
                <a:rPr lang="en-IN" sz="3200" b="1" dirty="0" err="1"/>
                <a:t>Moolayil</a:t>
              </a:r>
              <a:r>
                <a:rPr lang="en-IN" sz="3200" dirty="0"/>
                <a:t> — Frontend and UI/UX design</a:t>
              </a:r>
            </a:p>
            <a:p>
              <a:r>
                <a:rPr lang="en-IN" sz="3200" b="1" dirty="0"/>
                <a:t>Johaan Liju James</a:t>
              </a:r>
              <a:r>
                <a:rPr lang="en-IN" sz="3200" dirty="0"/>
                <a:t> — AI, machine learning and API logic</a:t>
              </a:r>
              <a:endParaRPr lang="en-US" sz="3169" b="1" dirty="0">
                <a:solidFill>
                  <a:srgbClr val="1D1D1F"/>
                </a:solidFill>
                <a:latin typeface="IBM Plex Sans"/>
                <a:ea typeface="IBM Plex Sans"/>
                <a:cs typeface="IBM Plex Sans"/>
                <a:sym typeface="IBM Plex Sans"/>
              </a:endParaRPr>
            </a:p>
          </p:txBody>
        </p:sp>
      </p:grpSp>
      <p:pic>
        <p:nvPicPr>
          <p:cNvPr id="87" name="Google Shape;87;p13" title="download (2).jpg"/>
          <p:cNvPicPr preferRelativeResize="0"/>
          <p:nvPr/>
        </p:nvPicPr>
        <p:blipFill rotWithShape="1">
          <a:blip r:embed="rId3">
            <a:alphaModFix/>
          </a:blip>
          <a:srcRect l="38928" r="16455"/>
          <a:stretch/>
        </p:blipFill>
        <p:spPr>
          <a:xfrm rot="-5400000">
            <a:off x="7123100" y="-7111200"/>
            <a:ext cx="4088375" cy="18326624"/>
          </a:xfrm>
          <a:prstGeom prst="rect">
            <a:avLst/>
          </a:prstGeom>
          <a:noFill/>
          <a:ln>
            <a:noFill/>
          </a:ln>
        </p:spPr>
      </p:pic>
      <p:pic>
        <p:nvPicPr>
          <p:cNvPr id="88" name="Google Shape;88;p13" title="Group 48097831.png"/>
          <p:cNvPicPr preferRelativeResize="0"/>
          <p:nvPr/>
        </p:nvPicPr>
        <p:blipFill>
          <a:blip r:embed="rId4">
            <a:alphaModFix/>
          </a:blip>
          <a:stretch>
            <a:fillRect/>
          </a:stretch>
        </p:blipFill>
        <p:spPr>
          <a:xfrm>
            <a:off x="318675" y="296224"/>
            <a:ext cx="7240346" cy="791925"/>
          </a:xfrm>
          <a:prstGeom prst="rect">
            <a:avLst/>
          </a:prstGeom>
          <a:noFill/>
          <a:ln>
            <a:noFill/>
          </a:ln>
        </p:spPr>
      </p:pic>
      <p:pic>
        <p:nvPicPr>
          <p:cNvPr id="89" name="Google Shape;89;p13" title="Logo.png"/>
          <p:cNvPicPr preferRelativeResize="0"/>
          <p:nvPr/>
        </p:nvPicPr>
        <p:blipFill>
          <a:blip r:embed="rId5">
            <a:alphaModFix/>
          </a:blip>
          <a:stretch>
            <a:fillRect/>
          </a:stretch>
        </p:blipFill>
        <p:spPr>
          <a:xfrm>
            <a:off x="12520575" y="296231"/>
            <a:ext cx="5599601" cy="79192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sp>
        <p:nvSpPr>
          <p:cNvPr id="94" name="Google Shape;94;p14"/>
          <p:cNvSpPr txBox="1"/>
          <p:nvPr/>
        </p:nvSpPr>
        <p:spPr>
          <a:xfrm>
            <a:off x="542925" y="2001834"/>
            <a:ext cx="8601075" cy="530975"/>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3095" b="1" i="0" u="none" strike="noStrike" cap="none">
                <a:solidFill>
                  <a:srgbClr val="000000"/>
                </a:solidFill>
                <a:latin typeface="Montserrat"/>
                <a:ea typeface="Montserrat"/>
                <a:cs typeface="Montserrat"/>
                <a:sym typeface="Montserrat"/>
              </a:rPr>
              <a:t>PROBLEM STATEMENT &amp; THEME</a:t>
            </a:r>
            <a:endParaRPr/>
          </a:p>
        </p:txBody>
      </p:sp>
      <p:sp>
        <p:nvSpPr>
          <p:cNvPr id="96" name="Google Shape;96;p14"/>
          <p:cNvSpPr txBox="1"/>
          <p:nvPr/>
        </p:nvSpPr>
        <p:spPr>
          <a:xfrm>
            <a:off x="1972243" y="2525665"/>
            <a:ext cx="10521525" cy="515206"/>
          </a:xfrm>
          <a:prstGeom prst="rect">
            <a:avLst/>
          </a:prstGeom>
          <a:noFill/>
          <a:ln>
            <a:noFill/>
          </a:ln>
        </p:spPr>
        <p:txBody>
          <a:bodyPr spcFirstLastPara="1" wrap="square" lIns="0" tIns="0" rIns="0" bIns="0" anchor="t" anchorCtr="0">
            <a:spAutoFit/>
          </a:bodyPr>
          <a:lstStyle/>
          <a:p>
            <a:pPr marL="0" marR="0" lvl="0" indent="0" algn="l" rtl="0">
              <a:lnSpc>
                <a:spcPct val="185611"/>
              </a:lnSpc>
              <a:spcBef>
                <a:spcPts val="0"/>
              </a:spcBef>
              <a:spcAft>
                <a:spcPts val="0"/>
              </a:spcAft>
              <a:buNone/>
            </a:pPr>
            <a:endParaRPr sz="1800" b="0" i="0" u="none" strike="noStrike" cap="none" dirty="0">
              <a:solidFill>
                <a:schemeClr val="dk1"/>
              </a:solidFill>
              <a:latin typeface="Calibri"/>
              <a:ea typeface="Calibri"/>
              <a:cs typeface="Calibri"/>
              <a:sym typeface="Calibri"/>
            </a:endParaRPr>
          </a:p>
        </p:txBody>
      </p:sp>
      <p:pic>
        <p:nvPicPr>
          <p:cNvPr id="98" name="Google Shape;98;p14" title="pptnlogo.png"/>
          <p:cNvPicPr preferRelativeResize="0"/>
          <p:nvPr/>
        </p:nvPicPr>
        <p:blipFill>
          <a:blip r:embed="rId3">
            <a:alphaModFix/>
          </a:blip>
          <a:stretch>
            <a:fillRect/>
          </a:stretch>
        </p:blipFill>
        <p:spPr>
          <a:xfrm>
            <a:off x="0" y="0"/>
            <a:ext cx="18288000" cy="1205517"/>
          </a:xfrm>
          <a:prstGeom prst="rect">
            <a:avLst/>
          </a:prstGeom>
          <a:noFill/>
          <a:ln>
            <a:noFill/>
          </a:ln>
        </p:spPr>
      </p:pic>
      <p:sp>
        <p:nvSpPr>
          <p:cNvPr id="3" name="TextBox 2">
            <a:extLst>
              <a:ext uri="{FF2B5EF4-FFF2-40B4-BE49-F238E27FC236}">
                <a16:creationId xmlns:a16="http://schemas.microsoft.com/office/drawing/2014/main" id="{91F4D68A-0334-086D-70E7-4AB815660FB4}"/>
              </a:ext>
            </a:extLst>
          </p:cNvPr>
          <p:cNvSpPr txBox="1"/>
          <p:nvPr/>
        </p:nvSpPr>
        <p:spPr>
          <a:xfrm>
            <a:off x="948504" y="3794075"/>
            <a:ext cx="16178981" cy="4247317"/>
          </a:xfrm>
          <a:prstGeom prst="rect">
            <a:avLst/>
          </a:prstGeom>
          <a:noFill/>
        </p:spPr>
        <p:txBody>
          <a:bodyPr wrap="square">
            <a:spAutoFit/>
          </a:bodyPr>
          <a:lstStyle/>
          <a:p>
            <a:pPr>
              <a:buNone/>
            </a:pPr>
            <a:r>
              <a:rPr lang="en-IN" sz="3000" b="1" dirty="0"/>
              <a:t>Problem</a:t>
            </a:r>
          </a:p>
          <a:p>
            <a:pPr>
              <a:buNone/>
            </a:pPr>
            <a:r>
              <a:rPr lang="en-IN" sz="3000" dirty="0"/>
              <a:t>MCX gold futures are sold as several contracts (GOLDM, GOLDTEN, GOLDGUINEA, GOLDPETAL). Each has its own lot size, price unit, purity and expiry date, so their prices cannot be compared directly.</a:t>
            </a:r>
          </a:p>
          <a:p>
            <a:pPr>
              <a:buNone/>
            </a:pPr>
            <a:r>
              <a:rPr lang="en-IN" sz="3000" b="1" dirty="0"/>
              <a:t>Impact</a:t>
            </a:r>
          </a:p>
          <a:p>
            <a:pPr>
              <a:buNone/>
            </a:pPr>
            <a:r>
              <a:rPr lang="en-IN" sz="3000" dirty="0"/>
              <a:t>Comparing by hand is risky. You can mix up expiry dates, miss unit or purity differences, or accidentally use future data. This creates false "arbitrage" signals (fake chances of easy profit) and misleading backtests (tests on past data).</a:t>
            </a:r>
          </a:p>
          <a:p>
            <a:pPr>
              <a:buNone/>
            </a:pPr>
            <a:r>
              <a:rPr lang="en-IN" sz="3000" b="1" dirty="0"/>
              <a:t>Theme alignment</a:t>
            </a:r>
          </a:p>
          <a:p>
            <a:pPr>
              <a:buNone/>
            </a:pPr>
            <a:r>
              <a:rPr lang="en-IN" sz="3000" dirty="0"/>
              <a:t>GoldLens is an analytics tool that runs on your own computer. It converts every contract to a common price per gram, flags unusual price gaps (spreads) with simple explanations, and tests them in a clear practice backtest that includes trading costs.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15"/>
          <p:cNvSpPr txBox="1"/>
          <p:nvPr/>
        </p:nvSpPr>
        <p:spPr>
          <a:xfrm>
            <a:off x="534132" y="1962522"/>
            <a:ext cx="2771894" cy="107390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3095" b="1" i="0" u="none" strike="noStrike" cap="none">
                <a:solidFill>
                  <a:srgbClr val="000000"/>
                </a:solidFill>
                <a:latin typeface="Montserrat"/>
                <a:ea typeface="Montserrat"/>
                <a:cs typeface="Montserrat"/>
                <a:sym typeface="Montserrat"/>
              </a:rPr>
              <a:t>SOLUTION</a:t>
            </a:r>
            <a:endParaRPr/>
          </a:p>
          <a:p>
            <a:pPr marL="0" marR="0" lvl="0" indent="0" algn="ctr" rtl="0">
              <a:lnSpc>
                <a:spcPct val="140000"/>
              </a:lnSpc>
              <a:spcBef>
                <a:spcPts val="0"/>
              </a:spcBef>
              <a:spcAft>
                <a:spcPts val="0"/>
              </a:spcAft>
              <a:buNone/>
            </a:pPr>
            <a:endParaRPr sz="3095" b="1" i="0" u="none" strike="noStrike" cap="none">
              <a:solidFill>
                <a:srgbClr val="000000"/>
              </a:solidFill>
              <a:latin typeface="Montserrat"/>
              <a:ea typeface="Montserrat"/>
              <a:cs typeface="Montserrat"/>
              <a:sym typeface="Montserrat"/>
            </a:endParaRPr>
          </a:p>
        </p:txBody>
      </p:sp>
      <p:pic>
        <p:nvPicPr>
          <p:cNvPr id="107" name="Google Shape;107;p15" title="pptnlogo.png"/>
          <p:cNvPicPr preferRelativeResize="0"/>
          <p:nvPr/>
        </p:nvPicPr>
        <p:blipFill>
          <a:blip r:embed="rId3">
            <a:alphaModFix/>
          </a:blip>
          <a:stretch>
            <a:fillRect/>
          </a:stretch>
        </p:blipFill>
        <p:spPr>
          <a:xfrm>
            <a:off x="0" y="0"/>
            <a:ext cx="18288000" cy="1205517"/>
          </a:xfrm>
          <a:prstGeom prst="rect">
            <a:avLst/>
          </a:prstGeom>
          <a:noFill/>
          <a:ln>
            <a:noFill/>
          </a:ln>
        </p:spPr>
      </p:pic>
      <p:sp>
        <p:nvSpPr>
          <p:cNvPr id="3" name="TextBox 2">
            <a:extLst>
              <a:ext uri="{FF2B5EF4-FFF2-40B4-BE49-F238E27FC236}">
                <a16:creationId xmlns:a16="http://schemas.microsoft.com/office/drawing/2014/main" id="{3B4F52A3-9C8B-7441-EBC1-58540FC5EFEB}"/>
              </a:ext>
            </a:extLst>
          </p:cNvPr>
          <p:cNvSpPr txBox="1"/>
          <p:nvPr/>
        </p:nvSpPr>
        <p:spPr>
          <a:xfrm>
            <a:off x="870155" y="3036422"/>
            <a:ext cx="16459200" cy="6093976"/>
          </a:xfrm>
          <a:prstGeom prst="rect">
            <a:avLst/>
          </a:prstGeom>
          <a:noFill/>
        </p:spPr>
        <p:txBody>
          <a:bodyPr wrap="square">
            <a:spAutoFit/>
          </a:bodyPr>
          <a:lstStyle/>
          <a:p>
            <a:pPr>
              <a:buNone/>
            </a:pPr>
            <a:r>
              <a:rPr lang="en-IN" sz="3000" b="1" dirty="0"/>
              <a:t>Solution overview</a:t>
            </a:r>
          </a:p>
          <a:p>
            <a:pPr>
              <a:buNone/>
            </a:pPr>
            <a:r>
              <a:rPr lang="en-IN" sz="3000" dirty="0"/>
              <a:t>An app on your own computer that compares MCX gold futures fairly. Pick contracts by exact expiry, compare prices and spreads, look into unusual gaps and simulate trades.</a:t>
            </a:r>
          </a:p>
          <a:p>
            <a:pPr>
              <a:buNone/>
            </a:pPr>
            <a:r>
              <a:rPr lang="en-IN" sz="3000" b="1" dirty="0"/>
              <a:t>Key features</a:t>
            </a:r>
          </a:p>
          <a:p>
            <a:pPr marL="342900" lvl="0" indent="-342900">
              <a:buFont typeface="Arial" panose="020B0604020202020204" pitchFamily="34" charset="0"/>
              <a:buChar char="•"/>
            </a:pPr>
            <a:r>
              <a:rPr lang="en-IN" sz="3000" dirty="0"/>
              <a:t>Converts every contract to INR per gram (999 purity) so prices match</a:t>
            </a:r>
          </a:p>
          <a:p>
            <a:pPr marL="342900" lvl="0" indent="-342900">
              <a:buFont typeface="Arial" panose="020B0604020202020204" pitchFamily="34" charset="0"/>
              <a:buChar char="•"/>
            </a:pPr>
            <a:r>
              <a:rPr lang="en-IN" sz="3000" dirty="0"/>
              <a:t>Pairs contracts only when expiry dates match exactly</a:t>
            </a:r>
          </a:p>
          <a:p>
            <a:pPr marL="342900" lvl="0" indent="-342900">
              <a:buFont typeface="Arial" panose="020B0604020202020204" pitchFamily="34" charset="0"/>
              <a:buChar char="•"/>
            </a:pPr>
            <a:r>
              <a:rPr lang="en-IN" sz="3000" dirty="0"/>
              <a:t>Signals that show how unusual a spread is, using only past data</a:t>
            </a:r>
          </a:p>
          <a:p>
            <a:pPr marL="342900" lvl="0" indent="-342900">
              <a:buFont typeface="Arial" panose="020B0604020202020204" pitchFamily="34" charset="0"/>
              <a:buChar char="•"/>
            </a:pPr>
            <a:r>
              <a:rPr lang="en-IN" sz="3000" dirty="0"/>
              <a:t>Clear statuses: investigate, no signal or not enough data</a:t>
            </a:r>
          </a:p>
          <a:p>
            <a:pPr marL="342900" lvl="0" indent="-342900">
              <a:buFont typeface="Arial" panose="020B0604020202020204" pitchFamily="34" charset="0"/>
              <a:buChar char="•"/>
            </a:pPr>
            <a:r>
              <a:rPr lang="en-IN" sz="3000" dirty="0"/>
              <a:t>Practice backtest that includes costs and lists every trade</a:t>
            </a:r>
          </a:p>
          <a:p>
            <a:pPr marL="342900" lvl="0" indent="-342900">
              <a:buFont typeface="Arial" panose="020B0604020202020204" pitchFamily="34" charset="0"/>
              <a:buChar char="•"/>
            </a:pPr>
            <a:r>
              <a:rPr lang="en-IN" sz="3000" dirty="0"/>
              <a:t>A banner that always shows when sample (synthetic) data is used</a:t>
            </a:r>
          </a:p>
          <a:p>
            <a:pPr>
              <a:buNone/>
            </a:pPr>
            <a:r>
              <a:rPr lang="en-IN" sz="3000" b="1" dirty="0"/>
              <a:t>Unique value</a:t>
            </a:r>
          </a:p>
          <a:p>
            <a:pPr>
              <a:buNone/>
            </a:pPr>
            <a:r>
              <a:rPr lang="en-IN" sz="3000" dirty="0"/>
              <a:t>Easy to trust: every signal shows its evidence and caveats, never uses future data and never claims risk free arbitrage.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16"/>
          <p:cNvSpPr txBox="1"/>
          <p:nvPr/>
        </p:nvSpPr>
        <p:spPr>
          <a:xfrm>
            <a:off x="742427" y="1962522"/>
            <a:ext cx="4706682" cy="107390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3095" b="1" i="0" u="none" strike="noStrike" cap="none">
                <a:solidFill>
                  <a:srgbClr val="000000"/>
                </a:solidFill>
                <a:latin typeface="Montserrat"/>
                <a:ea typeface="Montserrat"/>
                <a:cs typeface="Montserrat"/>
                <a:sym typeface="Montserrat"/>
              </a:rPr>
              <a:t>ARCHITECTURE</a:t>
            </a:r>
            <a:endParaRPr/>
          </a:p>
          <a:p>
            <a:pPr marL="0" marR="0" lvl="0" indent="0" algn="ctr" rtl="0">
              <a:lnSpc>
                <a:spcPct val="140000"/>
              </a:lnSpc>
              <a:spcBef>
                <a:spcPts val="0"/>
              </a:spcBef>
              <a:spcAft>
                <a:spcPts val="0"/>
              </a:spcAft>
              <a:buNone/>
            </a:pPr>
            <a:endParaRPr sz="3095" b="1" i="0" u="none" strike="noStrike" cap="none">
              <a:solidFill>
                <a:srgbClr val="000000"/>
              </a:solidFill>
              <a:latin typeface="Montserrat"/>
              <a:ea typeface="Montserrat"/>
              <a:cs typeface="Montserrat"/>
              <a:sym typeface="Montserrat"/>
            </a:endParaRPr>
          </a:p>
        </p:txBody>
      </p:sp>
      <p:pic>
        <p:nvPicPr>
          <p:cNvPr id="116" name="Google Shape;116;p16" title="pptnlogo.png"/>
          <p:cNvPicPr preferRelativeResize="0"/>
          <p:nvPr/>
        </p:nvPicPr>
        <p:blipFill>
          <a:blip r:embed="rId3">
            <a:alphaModFix/>
          </a:blip>
          <a:stretch>
            <a:fillRect/>
          </a:stretch>
        </p:blipFill>
        <p:spPr>
          <a:xfrm>
            <a:off x="0" y="0"/>
            <a:ext cx="18288000" cy="1205517"/>
          </a:xfrm>
          <a:prstGeom prst="rect">
            <a:avLst/>
          </a:prstGeom>
          <a:noFill/>
          <a:ln>
            <a:noFill/>
          </a:ln>
        </p:spPr>
      </p:pic>
      <p:sp>
        <p:nvSpPr>
          <p:cNvPr id="3" name="TextBox 2">
            <a:extLst>
              <a:ext uri="{FF2B5EF4-FFF2-40B4-BE49-F238E27FC236}">
                <a16:creationId xmlns:a16="http://schemas.microsoft.com/office/drawing/2014/main" id="{71227026-46AF-7D5D-4838-A668F8BA0BD7}"/>
              </a:ext>
            </a:extLst>
          </p:cNvPr>
          <p:cNvSpPr txBox="1"/>
          <p:nvPr/>
        </p:nvSpPr>
        <p:spPr>
          <a:xfrm>
            <a:off x="1209368" y="2757948"/>
            <a:ext cx="11900000" cy="6247864"/>
          </a:xfrm>
          <a:prstGeom prst="rect">
            <a:avLst/>
          </a:prstGeom>
          <a:noFill/>
        </p:spPr>
        <p:txBody>
          <a:bodyPr wrap="square">
            <a:spAutoFit/>
          </a:bodyPr>
          <a:lstStyle/>
          <a:p>
            <a:pPr>
              <a:buNone/>
            </a:pPr>
            <a:r>
              <a:rPr lang="en-IN" sz="2500" b="1" dirty="0"/>
              <a:t>Tech stack</a:t>
            </a:r>
            <a:r>
              <a:rPr lang="en-IN" sz="2500" dirty="0"/>
              <a:t>:</a:t>
            </a:r>
          </a:p>
          <a:p>
            <a:pPr marL="342900" lvl="0" indent="-342900">
              <a:buFont typeface="Arial" panose="020B0604020202020204" pitchFamily="34" charset="0"/>
              <a:buChar char="•"/>
            </a:pPr>
            <a:r>
              <a:rPr lang="en-IN" sz="2500" b="1" dirty="0"/>
              <a:t>Next.js + TypeScript + Tailwind</a:t>
            </a:r>
            <a:r>
              <a:rPr lang="en-IN" sz="2500" dirty="0"/>
              <a:t> — dashboard UI</a:t>
            </a:r>
          </a:p>
          <a:p>
            <a:pPr marL="342900" lvl="0" indent="-342900">
              <a:buFont typeface="Arial" panose="020B0604020202020204" pitchFamily="34" charset="0"/>
              <a:buChar char="•"/>
            </a:pPr>
            <a:r>
              <a:rPr lang="en-IN" sz="2500" b="1" dirty="0"/>
              <a:t>Recharts</a:t>
            </a:r>
            <a:r>
              <a:rPr lang="en-IN" sz="2500" dirty="0"/>
              <a:t> — price, spread and z score charts</a:t>
            </a:r>
          </a:p>
          <a:p>
            <a:pPr marL="342900" lvl="0" indent="-342900">
              <a:buFont typeface="Arial" panose="020B0604020202020204" pitchFamily="34" charset="0"/>
              <a:buChar char="•"/>
            </a:pPr>
            <a:r>
              <a:rPr lang="en-IN" sz="2500" b="1" dirty="0"/>
              <a:t>FastAPI + Pydantic</a:t>
            </a:r>
            <a:r>
              <a:rPr lang="en-IN" sz="2500" dirty="0"/>
              <a:t> — API with clearly defined data formats</a:t>
            </a:r>
          </a:p>
          <a:p>
            <a:pPr marL="342900" lvl="0" indent="-342900">
              <a:buFont typeface="Arial" panose="020B0604020202020204" pitchFamily="34" charset="0"/>
              <a:buChar char="•"/>
            </a:pPr>
            <a:r>
              <a:rPr lang="en-IN" sz="2500" b="1" dirty="0"/>
              <a:t>Pandas </a:t>
            </a:r>
            <a:r>
              <a:rPr lang="en-IN" sz="2500" b="1"/>
              <a:t>/ NumPy</a:t>
            </a:r>
            <a:r>
              <a:rPr lang="en-IN" sz="2500"/>
              <a:t> </a:t>
            </a:r>
            <a:r>
              <a:rPr lang="en-IN" sz="2500" dirty="0"/>
              <a:t>— normalization and statistics</a:t>
            </a:r>
          </a:p>
          <a:p>
            <a:pPr marL="342900" lvl="0" indent="-342900">
              <a:buFont typeface="Arial" panose="020B0604020202020204" pitchFamily="34" charset="0"/>
              <a:buChar char="•"/>
            </a:pPr>
            <a:r>
              <a:rPr lang="en-IN" sz="2500" b="1" dirty="0"/>
              <a:t>SQLite + SQLAlchemy</a:t>
            </a:r>
            <a:r>
              <a:rPr lang="en-IN" sz="2500" dirty="0"/>
              <a:t> — local data storage</a:t>
            </a:r>
          </a:p>
          <a:p>
            <a:pPr marL="342900" lvl="0" indent="-342900">
              <a:buFont typeface="Arial" panose="020B0604020202020204" pitchFamily="34" charset="0"/>
              <a:buChar char="•"/>
            </a:pPr>
            <a:r>
              <a:rPr lang="en-IN" sz="2500" b="1" dirty="0"/>
              <a:t>pytest</a:t>
            </a:r>
            <a:r>
              <a:rPr lang="en-IN" sz="2500" dirty="0"/>
              <a:t> — tests that check pricing, signals and backtest are correct</a:t>
            </a:r>
          </a:p>
          <a:p>
            <a:pPr>
              <a:buNone/>
            </a:pPr>
            <a:endParaRPr lang="en-IN" sz="2500" dirty="0"/>
          </a:p>
          <a:p>
            <a:pPr>
              <a:buNone/>
            </a:pPr>
            <a:r>
              <a:rPr lang="en-IN" sz="2500" b="1" dirty="0"/>
              <a:t>Data flow:</a:t>
            </a:r>
          </a:p>
          <a:p>
            <a:pPr>
              <a:buNone/>
            </a:pPr>
            <a:r>
              <a:rPr lang="en-IN" sz="2500" b="1" dirty="0"/>
              <a:t>Daily prices (CSV or sample data) → validation → normalization → exact expiry matching → spread and z score signals → backtest → decision report</a:t>
            </a:r>
          </a:p>
          <a:p>
            <a:pPr>
              <a:buNone/>
            </a:pPr>
            <a:endParaRPr lang="en-IN" sz="2500" dirty="0"/>
          </a:p>
          <a:p>
            <a:pPr>
              <a:buNone/>
            </a:pPr>
            <a:r>
              <a:rPr lang="en-IN" sz="2500" b="1" dirty="0"/>
              <a:t>APIs used</a:t>
            </a:r>
            <a:r>
              <a:rPr lang="en-IN" sz="2500" dirty="0"/>
              <a:t>:</a:t>
            </a:r>
          </a:p>
          <a:p>
            <a:pPr marL="342900" lvl="0" indent="-342900">
              <a:buFont typeface="Arial" panose="020B0604020202020204" pitchFamily="34" charset="0"/>
              <a:buChar char="•"/>
            </a:pPr>
            <a:r>
              <a:rPr lang="en-IN" sz="2500" b="1" dirty="0"/>
              <a:t>REST endpoints</a:t>
            </a:r>
            <a:r>
              <a:rPr lang="en-IN" sz="2500" dirty="0"/>
              <a:t>: /health, /contracts, /prices, /spreads, /signals, POST /backtest</a:t>
            </a:r>
          </a:p>
          <a:p>
            <a:pPr marL="342900" lvl="0" indent="-342900">
              <a:buFont typeface="Arial" panose="020B0604020202020204" pitchFamily="34" charset="0"/>
              <a:buChar char="•"/>
            </a:pPr>
            <a:r>
              <a:rPr lang="en-IN" sz="2500" b="1" dirty="0"/>
              <a:t>MCX bhavcopy CSV</a:t>
            </a:r>
            <a:r>
              <a:rPr lang="en-IN" sz="2500" dirty="0"/>
              <a:t> (daily price file from MCX) loaded through a checked importer; a fixed sample dataset for the demo</a:t>
            </a:r>
          </a:p>
        </p:txBody>
      </p:sp>
      <p:sp>
        <p:nvSpPr>
          <p:cNvPr id="1000" name="Flow step 1"/>
          <p:cNvSpPr/>
          <p:nvPr/>
        </p:nvSpPr>
        <p:spPr>
          <a:xfrm>
            <a:off x="13500000" y="2800000"/>
            <a:ext cx="4300000" cy="700000"/>
          </a:xfrm>
          <a:prstGeom prst="rect">
            <a:avLst/>
          </a:prstGeom>
          <a:solidFill>
            <a:srgbClr val="FFFFFF"/>
          </a:solidFill>
          <a:ln w="15875">
            <a:solidFill>
              <a:srgbClr val="000000"/>
            </a:solidFill>
          </a:ln>
        </p:spPr>
        <p:txBody>
          <a:bodyPr wrap="square" lIns="91440" tIns="45720" rIns="91440" bIns="45720" anchor="ctr">
            <a:noAutofit/>
          </a:bodyPr>
          <a:lstStyle/>
          <a:p>
            <a:pPr algn="ctr">
              <a:buNone/>
            </a:pPr>
            <a:r>
              <a:rPr lang="en-IN" sz="2000" dirty="0">
                <a:solidFill>
                  <a:srgbClr val="000000"/>
                </a:solidFill>
              </a:rPr>
              <a:t>Daily prices</a:t>
            </a:r>
          </a:p>
        </p:txBody>
      </p:sp>
      <p:cxnSp>
        <p:nvCxnSpPr>
          <p:cNvPr id="1001" name="Flow arrow 1"/>
          <p:cNvCxnSpPr/>
          <p:nvPr/>
        </p:nvCxnSpPr>
        <p:spPr>
          <a:xfrm>
            <a:off x="15650000" y="3500000"/>
            <a:ext cx="0" cy="300000"/>
          </a:xfrm>
          <a:prstGeom prst="line">
            <a:avLst/>
          </a:prstGeom>
          <a:ln w="15875">
            <a:solidFill>
              <a:srgbClr val="000000"/>
            </a:solidFill>
            <a:tailEnd type="triangle" w="med" len="med"/>
          </a:ln>
        </p:spPr>
      </p:cxnSp>
      <p:sp>
        <p:nvSpPr>
          <p:cNvPr id="1002" name="Flow step 2"/>
          <p:cNvSpPr/>
          <p:nvPr/>
        </p:nvSpPr>
        <p:spPr>
          <a:xfrm>
            <a:off x="13500000" y="3800000"/>
            <a:ext cx="4300000" cy="700000"/>
          </a:xfrm>
          <a:prstGeom prst="rect">
            <a:avLst/>
          </a:prstGeom>
          <a:solidFill>
            <a:srgbClr val="FFFFFF"/>
          </a:solidFill>
          <a:ln w="15875">
            <a:solidFill>
              <a:srgbClr val="000000"/>
            </a:solidFill>
          </a:ln>
        </p:spPr>
        <p:txBody>
          <a:bodyPr wrap="square" lIns="91440" tIns="45720" rIns="91440" bIns="45720" anchor="ctr">
            <a:noAutofit/>
          </a:bodyPr>
          <a:lstStyle/>
          <a:p>
            <a:pPr algn="ctr">
              <a:buNone/>
            </a:pPr>
            <a:r>
              <a:rPr lang="en-IN" sz="2000" dirty="0">
                <a:solidFill>
                  <a:srgbClr val="000000"/>
                </a:solidFill>
              </a:rPr>
              <a:t>Validation</a:t>
            </a:r>
          </a:p>
        </p:txBody>
      </p:sp>
      <p:cxnSp>
        <p:nvCxnSpPr>
          <p:cNvPr id="1003" name="Flow arrow 2"/>
          <p:cNvCxnSpPr/>
          <p:nvPr/>
        </p:nvCxnSpPr>
        <p:spPr>
          <a:xfrm>
            <a:off x="15650000" y="4500000"/>
            <a:ext cx="0" cy="300000"/>
          </a:xfrm>
          <a:prstGeom prst="line">
            <a:avLst/>
          </a:prstGeom>
          <a:ln w="15875">
            <a:solidFill>
              <a:srgbClr val="000000"/>
            </a:solidFill>
            <a:tailEnd type="triangle" w="med" len="med"/>
          </a:ln>
        </p:spPr>
      </p:cxnSp>
      <p:sp>
        <p:nvSpPr>
          <p:cNvPr id="1004" name="Flow step 3"/>
          <p:cNvSpPr/>
          <p:nvPr/>
        </p:nvSpPr>
        <p:spPr>
          <a:xfrm>
            <a:off x="13500000" y="4800000"/>
            <a:ext cx="4300000" cy="700000"/>
          </a:xfrm>
          <a:prstGeom prst="rect">
            <a:avLst/>
          </a:prstGeom>
          <a:solidFill>
            <a:srgbClr val="FFFFFF"/>
          </a:solidFill>
          <a:ln w="15875">
            <a:solidFill>
              <a:srgbClr val="000000"/>
            </a:solidFill>
          </a:ln>
        </p:spPr>
        <p:txBody>
          <a:bodyPr wrap="square" lIns="91440" tIns="45720" rIns="91440" bIns="45720" anchor="ctr">
            <a:noAutofit/>
          </a:bodyPr>
          <a:lstStyle/>
          <a:p>
            <a:pPr algn="ctr">
              <a:buNone/>
            </a:pPr>
            <a:r>
              <a:rPr lang="en-IN" sz="2000" dirty="0">
                <a:solidFill>
                  <a:srgbClr val="000000"/>
                </a:solidFill>
              </a:rPr>
              <a:t>Normalization</a:t>
            </a:r>
          </a:p>
        </p:txBody>
      </p:sp>
      <p:cxnSp>
        <p:nvCxnSpPr>
          <p:cNvPr id="1005" name="Flow arrow 3"/>
          <p:cNvCxnSpPr/>
          <p:nvPr/>
        </p:nvCxnSpPr>
        <p:spPr>
          <a:xfrm>
            <a:off x="15650000" y="5500000"/>
            <a:ext cx="0" cy="300000"/>
          </a:xfrm>
          <a:prstGeom prst="line">
            <a:avLst/>
          </a:prstGeom>
          <a:ln w="15875">
            <a:solidFill>
              <a:srgbClr val="000000"/>
            </a:solidFill>
            <a:tailEnd type="triangle" w="med" len="med"/>
          </a:ln>
        </p:spPr>
      </p:cxnSp>
      <p:sp>
        <p:nvSpPr>
          <p:cNvPr id="1006" name="Flow step 4"/>
          <p:cNvSpPr/>
          <p:nvPr/>
        </p:nvSpPr>
        <p:spPr>
          <a:xfrm>
            <a:off x="13500000" y="5800000"/>
            <a:ext cx="4300000" cy="700000"/>
          </a:xfrm>
          <a:prstGeom prst="rect">
            <a:avLst/>
          </a:prstGeom>
          <a:solidFill>
            <a:srgbClr val="FFFFFF"/>
          </a:solidFill>
          <a:ln w="15875">
            <a:solidFill>
              <a:srgbClr val="000000"/>
            </a:solidFill>
          </a:ln>
        </p:spPr>
        <p:txBody>
          <a:bodyPr wrap="square" lIns="91440" tIns="45720" rIns="91440" bIns="45720" anchor="ctr">
            <a:noAutofit/>
          </a:bodyPr>
          <a:lstStyle/>
          <a:p>
            <a:pPr algn="ctr">
              <a:buNone/>
            </a:pPr>
            <a:r>
              <a:rPr lang="en-IN" sz="2000" dirty="0">
                <a:solidFill>
                  <a:srgbClr val="000000"/>
                </a:solidFill>
              </a:rPr>
              <a:t>Exact expiry matching</a:t>
            </a:r>
          </a:p>
        </p:txBody>
      </p:sp>
      <p:cxnSp>
        <p:nvCxnSpPr>
          <p:cNvPr id="1007" name="Flow arrow 4"/>
          <p:cNvCxnSpPr/>
          <p:nvPr/>
        </p:nvCxnSpPr>
        <p:spPr>
          <a:xfrm>
            <a:off x="15650000" y="6500000"/>
            <a:ext cx="0" cy="300000"/>
          </a:xfrm>
          <a:prstGeom prst="line">
            <a:avLst/>
          </a:prstGeom>
          <a:ln w="15875">
            <a:solidFill>
              <a:srgbClr val="000000"/>
            </a:solidFill>
            <a:tailEnd type="triangle" w="med" len="med"/>
          </a:ln>
        </p:spPr>
      </p:cxnSp>
      <p:sp>
        <p:nvSpPr>
          <p:cNvPr id="1008" name="Flow step 5"/>
          <p:cNvSpPr/>
          <p:nvPr/>
        </p:nvSpPr>
        <p:spPr>
          <a:xfrm>
            <a:off x="13500000" y="6800000"/>
            <a:ext cx="4300000" cy="700000"/>
          </a:xfrm>
          <a:prstGeom prst="rect">
            <a:avLst/>
          </a:prstGeom>
          <a:solidFill>
            <a:srgbClr val="FFFFFF"/>
          </a:solidFill>
          <a:ln w="15875">
            <a:solidFill>
              <a:srgbClr val="000000"/>
            </a:solidFill>
          </a:ln>
        </p:spPr>
        <p:txBody>
          <a:bodyPr wrap="square" lIns="91440" tIns="45720" rIns="91440" bIns="45720" anchor="ctr">
            <a:noAutofit/>
          </a:bodyPr>
          <a:lstStyle/>
          <a:p>
            <a:pPr algn="ctr">
              <a:buNone/>
            </a:pPr>
            <a:r>
              <a:rPr lang="en-IN" sz="2000" dirty="0">
                <a:solidFill>
                  <a:srgbClr val="000000"/>
                </a:solidFill>
              </a:rPr>
              <a:t>Spread and z score signals</a:t>
            </a:r>
          </a:p>
        </p:txBody>
      </p:sp>
      <p:cxnSp>
        <p:nvCxnSpPr>
          <p:cNvPr id="1009" name="Flow arrow 5"/>
          <p:cNvCxnSpPr/>
          <p:nvPr/>
        </p:nvCxnSpPr>
        <p:spPr>
          <a:xfrm>
            <a:off x="15650000" y="7500000"/>
            <a:ext cx="0" cy="300000"/>
          </a:xfrm>
          <a:prstGeom prst="line">
            <a:avLst/>
          </a:prstGeom>
          <a:ln w="15875">
            <a:solidFill>
              <a:srgbClr val="000000"/>
            </a:solidFill>
            <a:tailEnd type="triangle" w="med" len="med"/>
          </a:ln>
        </p:spPr>
      </p:cxnSp>
      <p:sp>
        <p:nvSpPr>
          <p:cNvPr id="1010" name="Flow step 6"/>
          <p:cNvSpPr/>
          <p:nvPr/>
        </p:nvSpPr>
        <p:spPr>
          <a:xfrm>
            <a:off x="13500000" y="7800000"/>
            <a:ext cx="4300000" cy="700000"/>
          </a:xfrm>
          <a:prstGeom prst="rect">
            <a:avLst/>
          </a:prstGeom>
          <a:solidFill>
            <a:srgbClr val="FFFFFF"/>
          </a:solidFill>
          <a:ln w="15875">
            <a:solidFill>
              <a:srgbClr val="000000"/>
            </a:solidFill>
          </a:ln>
        </p:spPr>
        <p:txBody>
          <a:bodyPr wrap="square" lIns="91440" tIns="45720" rIns="91440" bIns="45720" anchor="ctr">
            <a:noAutofit/>
          </a:bodyPr>
          <a:lstStyle/>
          <a:p>
            <a:pPr algn="ctr">
              <a:buNone/>
            </a:pPr>
            <a:r>
              <a:rPr lang="en-IN" sz="2000" dirty="0">
                <a:solidFill>
                  <a:srgbClr val="000000"/>
                </a:solidFill>
              </a:rPr>
              <a:t>Backtest</a:t>
            </a:r>
          </a:p>
        </p:txBody>
      </p:sp>
      <p:cxnSp>
        <p:nvCxnSpPr>
          <p:cNvPr id="1011" name="Flow arrow 6"/>
          <p:cNvCxnSpPr/>
          <p:nvPr/>
        </p:nvCxnSpPr>
        <p:spPr>
          <a:xfrm>
            <a:off x="15650000" y="8500000"/>
            <a:ext cx="0" cy="300000"/>
          </a:xfrm>
          <a:prstGeom prst="line">
            <a:avLst/>
          </a:prstGeom>
          <a:ln w="15875">
            <a:solidFill>
              <a:srgbClr val="000000"/>
            </a:solidFill>
            <a:tailEnd type="triangle" w="med" len="med"/>
          </a:ln>
        </p:spPr>
      </p:cxnSp>
      <p:sp>
        <p:nvSpPr>
          <p:cNvPr id="1012" name="Flow step 7"/>
          <p:cNvSpPr/>
          <p:nvPr/>
        </p:nvSpPr>
        <p:spPr>
          <a:xfrm>
            <a:off x="13500000" y="8800000"/>
            <a:ext cx="4300000" cy="700000"/>
          </a:xfrm>
          <a:prstGeom prst="rect">
            <a:avLst/>
          </a:prstGeom>
          <a:solidFill>
            <a:srgbClr val="FFFFFF"/>
          </a:solidFill>
          <a:ln w="15875">
            <a:solidFill>
              <a:srgbClr val="000000"/>
            </a:solidFill>
          </a:ln>
        </p:spPr>
        <p:txBody>
          <a:bodyPr wrap="square" lIns="91440" tIns="45720" rIns="91440" bIns="45720" anchor="ctr">
            <a:noAutofit/>
          </a:bodyPr>
          <a:lstStyle/>
          <a:p>
            <a:pPr algn="ctr">
              <a:buNone/>
            </a:pPr>
            <a:r>
              <a:rPr lang="en-IN" sz="2000" b="1" dirty="0">
                <a:solidFill>
                  <a:srgbClr val="000000"/>
                </a:solidFill>
              </a:rPr>
              <a:t>Decision report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sp>
        <p:nvSpPr>
          <p:cNvPr id="121" name="Google Shape;121;p17"/>
          <p:cNvSpPr txBox="1"/>
          <p:nvPr/>
        </p:nvSpPr>
        <p:spPr>
          <a:xfrm>
            <a:off x="0" y="1913006"/>
            <a:ext cx="9064063" cy="530975"/>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3095" b="1" i="0" u="none" strike="noStrike" cap="none">
                <a:solidFill>
                  <a:srgbClr val="000000"/>
                </a:solidFill>
                <a:latin typeface="Montserrat"/>
                <a:ea typeface="Montserrat"/>
                <a:cs typeface="Montserrat"/>
                <a:sym typeface="Montserrat"/>
              </a:rPr>
              <a:t>MARKET RESEARCH/ANALYSIS</a:t>
            </a:r>
            <a:endParaRPr/>
          </a:p>
        </p:txBody>
      </p:sp>
      <p:pic>
        <p:nvPicPr>
          <p:cNvPr id="125" name="Google Shape;125;p17" title="pptnlogo.png"/>
          <p:cNvPicPr preferRelativeResize="0"/>
          <p:nvPr/>
        </p:nvPicPr>
        <p:blipFill>
          <a:blip r:embed="rId3">
            <a:alphaModFix/>
          </a:blip>
          <a:stretch>
            <a:fillRect/>
          </a:stretch>
        </p:blipFill>
        <p:spPr>
          <a:xfrm>
            <a:off x="0" y="0"/>
            <a:ext cx="18288000" cy="1205517"/>
          </a:xfrm>
          <a:prstGeom prst="rect">
            <a:avLst/>
          </a:prstGeom>
          <a:noFill/>
          <a:ln>
            <a:noFill/>
          </a:ln>
        </p:spPr>
      </p:pic>
      <p:sp>
        <p:nvSpPr>
          <p:cNvPr id="3" name="TextBox 2">
            <a:extLst>
              <a:ext uri="{FF2B5EF4-FFF2-40B4-BE49-F238E27FC236}">
                <a16:creationId xmlns:a16="http://schemas.microsoft.com/office/drawing/2014/main" id="{16B8865F-D29D-9225-120B-C463BC5A9FE7}"/>
              </a:ext>
            </a:extLst>
          </p:cNvPr>
          <p:cNvSpPr txBox="1"/>
          <p:nvPr/>
        </p:nvSpPr>
        <p:spPr>
          <a:xfrm>
            <a:off x="309716" y="2934929"/>
            <a:ext cx="17639071" cy="7402026"/>
          </a:xfrm>
          <a:prstGeom prst="rect">
            <a:avLst/>
          </a:prstGeom>
          <a:noFill/>
        </p:spPr>
        <p:txBody>
          <a:bodyPr wrap="square">
            <a:spAutoFit/>
          </a:bodyPr>
          <a:lstStyle/>
          <a:p>
            <a:pPr>
              <a:buNone/>
            </a:pPr>
            <a:r>
              <a:rPr lang="en-IN" sz="2200" b="1" dirty="0"/>
              <a:t>Target users</a:t>
            </a:r>
            <a:r>
              <a:rPr lang="en-IN" sz="2200" dirty="0"/>
              <a:t>:</a:t>
            </a:r>
          </a:p>
          <a:p>
            <a:pPr marL="342900" lvl="0" indent="-342900">
              <a:buFont typeface="Arial" panose="020B0604020202020204" pitchFamily="34" charset="0"/>
              <a:buChar char="•"/>
            </a:pPr>
            <a:r>
              <a:rPr lang="en-IN" sz="2200" dirty="0"/>
              <a:t>Individual and company commodity traders</a:t>
            </a:r>
          </a:p>
          <a:p>
            <a:pPr marL="342900" lvl="0" indent="-342900">
              <a:buFont typeface="Arial" panose="020B0604020202020204" pitchFamily="34" charset="0"/>
              <a:buChar char="•"/>
            </a:pPr>
            <a:r>
              <a:rPr lang="en-IN" sz="2200" dirty="0"/>
              <a:t>Analysts and researchers studying gold futures</a:t>
            </a:r>
          </a:p>
          <a:p>
            <a:pPr marL="342900" lvl="0" indent="-342900">
              <a:buFont typeface="Arial" panose="020B0604020202020204" pitchFamily="34" charset="0"/>
              <a:buChar char="•"/>
            </a:pPr>
            <a:r>
              <a:rPr lang="en-IN" sz="2200" dirty="0"/>
              <a:t>Brokerages and fintech apps that need analytics tools</a:t>
            </a:r>
          </a:p>
          <a:p>
            <a:pPr marL="342900" lvl="0" indent="-342900">
              <a:buFont typeface="Arial" panose="020B0604020202020204" pitchFamily="34" charset="0"/>
              <a:buChar char="•"/>
            </a:pPr>
            <a:r>
              <a:rPr lang="en-IN" sz="2200" dirty="0"/>
              <a:t>Finance students and educators</a:t>
            </a:r>
          </a:p>
          <a:p>
            <a:pPr>
              <a:buNone/>
            </a:pPr>
            <a:endParaRPr lang="en-IN" sz="2200"/>
          </a:p>
          <a:p>
            <a:pPr>
              <a:buNone/>
            </a:pPr>
            <a:r>
              <a:rPr lang="en-IN" sz="2200" b="1" dirty="0"/>
              <a:t>Market focus:</a:t>
            </a:r>
          </a:p>
          <a:p>
            <a:pPr>
              <a:buNone/>
            </a:pPr>
            <a:r>
              <a:rPr lang="en-IN" sz="2200" b="1" dirty="0"/>
              <a:t>India’s MCX gold futures</a:t>
            </a:r>
            <a:r>
              <a:rPr lang="en-IN" sz="2200" dirty="0"/>
              <a:t> (GOLDM, GOLDTEN, GOLDGUINEA, GOLDPETAL). We have not yet researched how big the market is and will check this later.</a:t>
            </a:r>
          </a:p>
          <a:p>
            <a:pPr>
              <a:buNone/>
            </a:pPr>
            <a:r>
              <a:rPr lang="en-IN" sz="2200" b="1" dirty="0"/>
              <a:t>Potential revenue model</a:t>
            </a:r>
          </a:p>
          <a:p>
            <a:pPr marL="342900" lvl="0" indent="-342900">
              <a:buFont typeface="Arial" panose="020B0604020202020204" pitchFamily="34" charset="0"/>
              <a:buChar char="•"/>
            </a:pPr>
            <a:r>
              <a:rPr lang="en-IN" sz="2200" dirty="0"/>
              <a:t>Paid subscription for analytics access</a:t>
            </a:r>
          </a:p>
          <a:p>
            <a:pPr marL="342900" lvl="0" indent="-342900">
              <a:buFont typeface="Arial" panose="020B0604020202020204" pitchFamily="34" charset="0"/>
              <a:buChar char="•"/>
            </a:pPr>
            <a:r>
              <a:rPr lang="en-IN" sz="2200" dirty="0"/>
              <a:t>Premium features such as alerts and downloadable decision reports</a:t>
            </a:r>
          </a:p>
          <a:p>
            <a:pPr marL="342900" lvl="0" indent="-342900">
              <a:buFont typeface="Arial" panose="020B0604020202020204" pitchFamily="34" charset="0"/>
              <a:buChar char="•"/>
            </a:pPr>
            <a:r>
              <a:rPr lang="en-IN" sz="2200" dirty="0"/>
              <a:t>Licensing for brokerages and educational institutions</a:t>
            </a:r>
          </a:p>
          <a:p>
            <a:pPr>
              <a:buNone/>
            </a:pPr>
            <a:endParaRPr lang="en-IN" sz="2200"/>
          </a:p>
          <a:p>
            <a:pPr>
              <a:buNone/>
            </a:pPr>
            <a:r>
              <a:rPr lang="en-IN" sz="2200" b="1" dirty="0"/>
              <a:t>Differentiation:</a:t>
            </a:r>
          </a:p>
          <a:p>
            <a:pPr>
              <a:buNone/>
            </a:pPr>
            <a:r>
              <a:rPr lang="en-IN" sz="2200" dirty="0"/>
              <a:t>Clear and correct results instead of black box signals: every comparison shows exact contract dates, caveats and where the data came from.</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130" name="Google Shape;130;p18"/>
          <p:cNvSpPr txBox="1"/>
          <p:nvPr/>
        </p:nvSpPr>
        <p:spPr>
          <a:xfrm>
            <a:off x="-2138647" y="1632214"/>
            <a:ext cx="9064063" cy="107390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3095" b="1" i="0" u="none" strike="noStrike" cap="none">
                <a:solidFill>
                  <a:srgbClr val="000000"/>
                </a:solidFill>
                <a:latin typeface="Montserrat"/>
                <a:ea typeface="Montserrat"/>
                <a:cs typeface="Montserrat"/>
                <a:sym typeface="Montserrat"/>
              </a:rPr>
              <a:t>FUTURE SCOPE</a:t>
            </a:r>
            <a:endParaRPr/>
          </a:p>
          <a:p>
            <a:pPr marL="0" marR="0" lvl="0" indent="0" algn="ctr" rtl="0">
              <a:lnSpc>
                <a:spcPct val="140000"/>
              </a:lnSpc>
              <a:spcBef>
                <a:spcPts val="0"/>
              </a:spcBef>
              <a:spcAft>
                <a:spcPts val="0"/>
              </a:spcAft>
              <a:buNone/>
            </a:pPr>
            <a:endParaRPr sz="3095" b="1" i="0" u="none" strike="noStrike" cap="none">
              <a:solidFill>
                <a:srgbClr val="000000"/>
              </a:solidFill>
              <a:latin typeface="Montserrat"/>
              <a:ea typeface="Montserrat"/>
              <a:cs typeface="Montserrat"/>
              <a:sym typeface="Montserrat"/>
            </a:endParaRPr>
          </a:p>
        </p:txBody>
      </p:sp>
      <p:pic>
        <p:nvPicPr>
          <p:cNvPr id="134" name="Google Shape;134;p18" title="pptnlogo.png"/>
          <p:cNvPicPr preferRelativeResize="0"/>
          <p:nvPr/>
        </p:nvPicPr>
        <p:blipFill>
          <a:blip r:embed="rId3">
            <a:alphaModFix/>
          </a:blip>
          <a:stretch>
            <a:fillRect/>
          </a:stretch>
        </p:blipFill>
        <p:spPr>
          <a:xfrm>
            <a:off x="0" y="0"/>
            <a:ext cx="18288000" cy="1205517"/>
          </a:xfrm>
          <a:prstGeom prst="rect">
            <a:avLst/>
          </a:prstGeom>
          <a:noFill/>
          <a:ln>
            <a:noFill/>
          </a:ln>
        </p:spPr>
      </p:pic>
      <p:sp>
        <p:nvSpPr>
          <p:cNvPr id="3" name="TextBox 2">
            <a:extLst>
              <a:ext uri="{FF2B5EF4-FFF2-40B4-BE49-F238E27FC236}">
                <a16:creationId xmlns:a16="http://schemas.microsoft.com/office/drawing/2014/main" id="{13F6BDC8-CF5A-3608-7870-08973536A795}"/>
              </a:ext>
            </a:extLst>
          </p:cNvPr>
          <p:cNvSpPr txBox="1"/>
          <p:nvPr/>
        </p:nvSpPr>
        <p:spPr>
          <a:xfrm>
            <a:off x="781665" y="2706113"/>
            <a:ext cx="17093380" cy="3785652"/>
          </a:xfrm>
          <a:prstGeom prst="rect">
            <a:avLst/>
          </a:prstGeom>
          <a:noFill/>
        </p:spPr>
        <p:txBody>
          <a:bodyPr wrap="square">
            <a:spAutoFit/>
          </a:bodyPr>
          <a:lstStyle/>
          <a:p>
            <a:pPr marL="342900" lvl="0" indent="-342900">
              <a:buFont typeface="Arial" panose="020B0604020202020204" pitchFamily="34" charset="0"/>
              <a:buChar char="•"/>
            </a:pPr>
            <a:r>
              <a:rPr lang="en-IN" sz="3000" b="1" dirty="0"/>
              <a:t>Real MCX data</a:t>
            </a:r>
            <a:r>
              <a:rPr lang="en-IN" sz="3000" dirty="0"/>
              <a:t> loaded from checked daily MCX files, with verified contract details</a:t>
            </a:r>
          </a:p>
          <a:p>
            <a:pPr marL="342900" lvl="0" indent="-342900">
              <a:buFont typeface="Arial" panose="020B0604020202020204" pitchFamily="34" charset="0"/>
              <a:buChar char="•"/>
            </a:pPr>
            <a:r>
              <a:rPr lang="en-IN" sz="3000" b="1" dirty="0"/>
              <a:t>Expected basis modelling</a:t>
            </a:r>
            <a:r>
              <a:rPr lang="en-IN" sz="3000" dirty="0"/>
              <a:t> to adjust spreads for the time left until expiry</a:t>
            </a:r>
          </a:p>
          <a:p>
            <a:pPr marL="342900" lvl="0" indent="-342900">
              <a:buFont typeface="Arial" panose="020B0604020202020204" pitchFamily="34" charset="0"/>
              <a:buChar char="•"/>
            </a:pPr>
            <a:r>
              <a:rPr lang="en-IN" sz="3000" b="1" dirty="0"/>
              <a:t>Advanced charting</a:t>
            </a:r>
            <a:r>
              <a:rPr lang="en-IN" sz="3000" dirty="0"/>
              <a:t> with TradingView Lightweight Charts</a:t>
            </a:r>
          </a:p>
          <a:p>
            <a:pPr marL="342900" lvl="0" indent="-342900">
              <a:buFont typeface="Arial" panose="020B0604020202020204" pitchFamily="34" charset="0"/>
              <a:buChar char="•"/>
            </a:pPr>
            <a:r>
              <a:rPr lang="en-IN" sz="3000" b="1" dirty="0"/>
              <a:t>Richer backtests</a:t>
            </a:r>
            <a:r>
              <a:rPr lang="en-IN" sz="3000" dirty="0"/>
              <a:t> that include margin, liquidity and tests on fresh data</a:t>
            </a:r>
          </a:p>
          <a:p>
            <a:pPr marL="342900" lvl="0" indent="-342900">
              <a:buFont typeface="Arial" panose="020B0604020202020204" pitchFamily="34" charset="0"/>
              <a:buChar char="•"/>
            </a:pPr>
            <a:r>
              <a:rPr lang="en-IN" sz="3000" b="1" dirty="0"/>
              <a:t>Alerts</a:t>
            </a:r>
            <a:r>
              <a:rPr lang="en-IN" sz="3000" dirty="0"/>
              <a:t> when a pair’s status changes to investigate</a:t>
            </a:r>
          </a:p>
          <a:p>
            <a:pPr marL="342900" lvl="0" indent="-342900">
              <a:buFont typeface="Arial" panose="020B0604020202020204" pitchFamily="34" charset="0"/>
              <a:buChar char="•"/>
            </a:pPr>
            <a:r>
              <a:rPr lang="en-IN" sz="3000" b="1" dirty="0"/>
              <a:t>Decision reports</a:t>
            </a:r>
            <a:r>
              <a:rPr lang="en-IN" sz="3000" dirty="0"/>
              <a:t> that can be downloaded for every accepted or rejected trade idea</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sp>
        <p:nvSpPr>
          <p:cNvPr id="139" name="Google Shape;139;p19"/>
          <p:cNvSpPr txBox="1"/>
          <p:nvPr/>
        </p:nvSpPr>
        <p:spPr>
          <a:xfrm>
            <a:off x="-1537303" y="1601204"/>
            <a:ext cx="9064063" cy="107390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3095" b="1" i="0" u="none" strike="noStrike" cap="none">
                <a:solidFill>
                  <a:srgbClr val="000000"/>
                </a:solidFill>
                <a:latin typeface="Montserrat"/>
                <a:ea typeface="Montserrat"/>
                <a:cs typeface="Montserrat"/>
                <a:sym typeface="Montserrat"/>
              </a:rPr>
              <a:t>DEMO FLOW &amp; GUARDRAILS</a:t>
            </a:r>
            <a:endParaRPr/>
          </a:p>
          <a:p>
            <a:pPr marL="0" marR="0" lvl="0" indent="0" algn="ctr" rtl="0">
              <a:lnSpc>
                <a:spcPct val="140000"/>
              </a:lnSpc>
              <a:spcBef>
                <a:spcPts val="0"/>
              </a:spcBef>
              <a:spcAft>
                <a:spcPts val="0"/>
              </a:spcAft>
              <a:buNone/>
            </a:pPr>
            <a:endParaRPr sz="3095" b="1" i="0" u="none" strike="noStrike" cap="none">
              <a:solidFill>
                <a:srgbClr val="000000"/>
              </a:solidFill>
              <a:latin typeface="Montserrat"/>
              <a:ea typeface="Montserrat"/>
              <a:cs typeface="Montserrat"/>
              <a:sym typeface="Montserrat"/>
            </a:endParaRPr>
          </a:p>
        </p:txBody>
      </p:sp>
      <p:grpSp>
        <p:nvGrpSpPr>
          <p:cNvPr id="140" name="Google Shape;140;p19"/>
          <p:cNvGrpSpPr/>
          <p:nvPr/>
        </p:nvGrpSpPr>
        <p:grpSpPr>
          <a:xfrm>
            <a:off x="2196451" y="2405409"/>
            <a:ext cx="11438558" cy="2738091"/>
            <a:chOff x="0" y="0"/>
            <a:chExt cx="15251410" cy="3650789"/>
          </a:xfrm>
        </p:grpSpPr>
        <p:sp>
          <p:nvSpPr>
            <p:cNvPr id="141" name="Google Shape;141;p19"/>
            <p:cNvSpPr txBox="1"/>
            <p:nvPr/>
          </p:nvSpPr>
          <p:spPr>
            <a:xfrm>
              <a:off x="0" y="0"/>
              <a:ext cx="15251400" cy="2456700"/>
            </a:xfrm>
            <a:prstGeom prst="rect">
              <a:avLst/>
            </a:prstGeom>
            <a:noFill/>
            <a:ln>
              <a:noFill/>
            </a:ln>
          </p:spPr>
          <p:txBody>
            <a:bodyPr spcFirstLastPara="1" wrap="square" lIns="0" tIns="0" rIns="0" bIns="0" anchor="t" anchorCtr="0">
              <a:spAutoFit/>
            </a:bodyPr>
            <a:lstStyle/>
            <a:p>
              <a:pPr marL="0" marR="0" lvl="0" indent="0" algn="l" rtl="0">
                <a:lnSpc>
                  <a:spcPct val="119986"/>
                </a:lnSpc>
                <a:spcBef>
                  <a:spcPts val="0"/>
                </a:spcBef>
                <a:spcAft>
                  <a:spcPts val="0"/>
                </a:spcAft>
                <a:buNone/>
              </a:pPr>
              <a:endParaRPr/>
            </a:p>
            <a:p>
              <a:pPr marL="653555" marR="0" lvl="1" indent="-326777" algn="l" rtl="0">
                <a:lnSpc>
                  <a:spcPct val="119986"/>
                </a:lnSpc>
                <a:spcBef>
                  <a:spcPts val="0"/>
                </a:spcBef>
                <a:spcAft>
                  <a:spcPts val="0"/>
                </a:spcAft>
                <a:buClr>
                  <a:srgbClr val="1D1D1F"/>
                </a:buClr>
                <a:buSzPts val="3027"/>
                <a:buFont typeface="Arial"/>
                <a:buChar char="•"/>
              </a:pPr>
              <a:r>
                <a:rPr lang="en-US" sz="3027" b="0" i="0" u="none" strike="noStrike" cap="none">
                  <a:solidFill>
                    <a:srgbClr val="1D1D1F"/>
                  </a:solidFill>
                  <a:latin typeface="IBM Plex Sans"/>
                  <a:ea typeface="IBM Plex Sans"/>
                  <a:cs typeface="IBM Plex Sans"/>
                  <a:sym typeface="IBM Plex Sans"/>
                </a:rPr>
                <a:t>Demo flow: compare → investigate → simulate → decision report</a:t>
              </a:r>
              <a:endParaRPr sz="3027">
                <a:solidFill>
                  <a:srgbClr val="1D1D1F"/>
                </a:solidFill>
                <a:latin typeface="IBM Plex Sans"/>
                <a:ea typeface="IBM Plex Sans"/>
                <a:cs typeface="IBM Plex Sans"/>
                <a:sym typeface="IBM Plex Sans"/>
              </a:endParaRPr>
            </a:p>
            <a:p>
              <a:pPr marL="653555" marR="0" lvl="1" indent="-326778" algn="l" rtl="0">
                <a:lnSpc>
                  <a:spcPct val="119986"/>
                </a:lnSpc>
                <a:spcBef>
                  <a:spcPts val="0"/>
                </a:spcBef>
                <a:spcAft>
                  <a:spcPts val="0"/>
                </a:spcAft>
                <a:buClr>
                  <a:srgbClr val="1D1D1F"/>
                </a:buClr>
                <a:buSzPts val="3027"/>
                <a:buFont typeface="IBM Plex Sans"/>
                <a:buChar char="•"/>
              </a:pPr>
              <a:r>
                <a:rPr lang="en-US" sz="3027">
                  <a:solidFill>
                    <a:srgbClr val="1D1D1F"/>
                  </a:solidFill>
                  <a:latin typeface="IBM Plex Sans"/>
                  <a:ea typeface="IBM Plex Sans"/>
                  <a:cs typeface="IBM Plex Sans"/>
                  <a:sym typeface="IBM Plex Sans"/>
                </a:rPr>
                <a:t>Guardrails: no made up data, no use of future data, no risk free claims</a:t>
              </a:r>
              <a:endParaRPr sz="3027">
                <a:solidFill>
                  <a:srgbClr val="1D1D1F"/>
                </a:solidFill>
                <a:latin typeface="IBM Plex Sans"/>
                <a:ea typeface="IBM Plex Sans"/>
                <a:cs typeface="IBM Plex Sans"/>
                <a:sym typeface="IBM Plex Sans"/>
              </a:endParaRPr>
            </a:p>
            <a:p>
              <a:pPr marL="0" marR="0" lvl="0" indent="0" algn="l" rtl="0">
                <a:lnSpc>
                  <a:spcPct val="119986"/>
                </a:lnSpc>
                <a:spcBef>
                  <a:spcPts val="0"/>
                </a:spcBef>
                <a:spcAft>
                  <a:spcPts val="0"/>
                </a:spcAft>
                <a:buNone/>
              </a:pPr>
              <a:endParaRPr sz="3027" b="0" i="0" u="none" strike="noStrike" cap="none">
                <a:solidFill>
                  <a:srgbClr val="1D1D1F"/>
                </a:solidFill>
                <a:latin typeface="IBM Plex Sans"/>
                <a:ea typeface="IBM Plex Sans"/>
                <a:cs typeface="IBM Plex Sans"/>
                <a:sym typeface="IBM Plex Sans"/>
              </a:endParaRPr>
            </a:p>
          </p:txBody>
        </p:sp>
        <p:sp>
          <p:nvSpPr>
            <p:cNvPr id="142" name="Google Shape;142;p19"/>
            <p:cNvSpPr txBox="1"/>
            <p:nvPr/>
          </p:nvSpPr>
          <p:spPr>
            <a:xfrm>
              <a:off x="1222710" y="3075840"/>
              <a:ext cx="14028700" cy="574949"/>
            </a:xfrm>
            <a:prstGeom prst="rect">
              <a:avLst/>
            </a:prstGeom>
            <a:noFill/>
            <a:ln>
              <a:noFill/>
            </a:ln>
          </p:spPr>
          <p:txBody>
            <a:bodyPr spcFirstLastPara="1" wrap="square" lIns="0" tIns="0" rIns="0" bIns="0" anchor="t" anchorCtr="0">
              <a:spAutoFit/>
            </a:bodyPr>
            <a:lstStyle/>
            <a:p>
              <a:pPr marL="0" marR="0" lvl="0" indent="0" algn="l" rtl="0">
                <a:lnSpc>
                  <a:spcPct val="185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pic>
        <p:nvPicPr>
          <p:cNvPr id="143" name="Google Shape;143;p19" title="pptnlogo.png"/>
          <p:cNvPicPr preferRelativeResize="0"/>
          <p:nvPr/>
        </p:nvPicPr>
        <p:blipFill>
          <a:blip r:embed="rId3">
            <a:alphaModFix/>
          </a:blip>
          <a:stretch>
            <a:fillRect/>
          </a:stretch>
        </p:blipFill>
        <p:spPr>
          <a:xfrm>
            <a:off x="0" y="0"/>
            <a:ext cx="18288000" cy="1205517"/>
          </a:xfrm>
          <a:prstGeom prst="rect">
            <a:avLst/>
          </a:prstGeom>
          <a:noFill/>
          <a:ln>
            <a:noFill/>
          </a:ln>
        </p:spPr>
      </p:pic>
      <p:pic>
        <p:nvPicPr>
          <p:cNvPr id="900" name="Spread signal chart" descr="Illustrative synthetic chart: two normalized contract prices and a spread z score crossing the entry threshold"/>
          <p:cNvPicPr>
            <a:picLocks noChangeAspect="1"/>
          </p:cNvPicPr>
          <p:nvPr/>
        </p:nvPicPr>
        <p:blipFill>
          <a:blip r:embed="rId4"/>
          <a:stretch>
            <a:fillRect/>
          </a:stretch>
        </p:blipFill>
        <p:spPr>
          <a:xfrm>
            <a:off x="3600000" y="5200000"/>
            <a:ext cx="11000000" cy="4609523"/>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7"/>
        <p:cNvGrpSpPr/>
        <p:nvPr/>
      </p:nvGrpSpPr>
      <p:grpSpPr>
        <a:xfrm>
          <a:off x="0" y="0"/>
          <a:ext cx="0" cy="0"/>
          <a:chOff x="0" y="0"/>
          <a:chExt cx="0" cy="0"/>
        </a:xfrm>
      </p:grpSpPr>
      <p:grpSp>
        <p:nvGrpSpPr>
          <p:cNvPr id="148" name="Google Shape;148;p20"/>
          <p:cNvGrpSpPr/>
          <p:nvPr/>
        </p:nvGrpSpPr>
        <p:grpSpPr>
          <a:xfrm>
            <a:off x="4239144" y="5736501"/>
            <a:ext cx="8898075" cy="2077107"/>
            <a:chOff x="0" y="180975"/>
            <a:chExt cx="11864100" cy="2769476"/>
          </a:xfrm>
        </p:grpSpPr>
        <p:sp>
          <p:nvSpPr>
            <p:cNvPr id="149" name="Google Shape;149;p20"/>
            <p:cNvSpPr txBox="1"/>
            <p:nvPr/>
          </p:nvSpPr>
          <p:spPr>
            <a:xfrm>
              <a:off x="0" y="180975"/>
              <a:ext cx="11864100" cy="369300"/>
            </a:xfrm>
            <a:prstGeom prst="rect">
              <a:avLst/>
            </a:prstGeom>
            <a:noFill/>
            <a:ln>
              <a:noFill/>
            </a:ln>
          </p:spPr>
          <p:txBody>
            <a:bodyPr spcFirstLastPara="1" wrap="square" lIns="0" tIns="0" rIns="0" bIns="0" anchor="t" anchorCtr="0">
              <a:spAutoFit/>
            </a:bodyPr>
            <a:lstStyle/>
            <a:p>
              <a:pPr marL="0" marR="0" lvl="0" indent="0" algn="ctr" rtl="0">
                <a:lnSpc>
                  <a:spcPct val="76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50" name="Google Shape;150;p20"/>
            <p:cNvSpPr txBox="1"/>
            <p:nvPr/>
          </p:nvSpPr>
          <p:spPr>
            <a:xfrm>
              <a:off x="0" y="2581151"/>
              <a:ext cx="11864100" cy="369300"/>
            </a:xfrm>
            <a:prstGeom prst="rect">
              <a:avLst/>
            </a:prstGeom>
            <a:noFill/>
            <a:ln>
              <a:noFill/>
            </a:ln>
          </p:spPr>
          <p:txBody>
            <a:bodyPr spcFirstLastPara="1" wrap="square" lIns="0" tIns="0" rIns="0" bIns="0" anchor="t" anchorCtr="0">
              <a:spAutoFit/>
            </a:bodyPr>
            <a:lstStyle/>
            <a:p>
              <a:pPr marL="0" marR="0" lvl="0" indent="0" algn="ctr" rtl="0">
                <a:lnSpc>
                  <a:spcPct val="76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51" name="Google Shape;151;p20"/>
          <p:cNvGrpSpPr/>
          <p:nvPr/>
        </p:nvGrpSpPr>
        <p:grpSpPr>
          <a:xfrm>
            <a:off x="2554002" y="5409216"/>
            <a:ext cx="12268350" cy="1305429"/>
            <a:chOff x="0" y="19050"/>
            <a:chExt cx="16357800" cy="1740572"/>
          </a:xfrm>
        </p:grpSpPr>
        <p:sp>
          <p:nvSpPr>
            <p:cNvPr id="152" name="Google Shape;152;p20"/>
            <p:cNvSpPr txBox="1"/>
            <p:nvPr/>
          </p:nvSpPr>
          <p:spPr>
            <a:xfrm>
              <a:off x="0" y="19050"/>
              <a:ext cx="16357800" cy="369300"/>
            </a:xfrm>
            <a:prstGeom prst="rect">
              <a:avLst/>
            </a:prstGeom>
            <a:noFill/>
            <a:ln>
              <a:noFill/>
            </a:ln>
          </p:spPr>
          <p:txBody>
            <a:bodyPr spcFirstLastPara="1" wrap="square" lIns="0" tIns="0" rIns="0" bIns="0" anchor="t" anchorCtr="0">
              <a:spAutoFit/>
            </a:bodyPr>
            <a:lstStyle/>
            <a:p>
              <a:pPr marL="0" marR="0" lvl="0" indent="0" algn="ctr" rtl="0">
                <a:lnSpc>
                  <a:spcPct val="4091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53" name="Google Shape;153;p20"/>
            <p:cNvSpPr txBox="1"/>
            <p:nvPr/>
          </p:nvSpPr>
          <p:spPr>
            <a:xfrm>
              <a:off x="0" y="1390322"/>
              <a:ext cx="16357800" cy="369300"/>
            </a:xfrm>
            <a:prstGeom prst="rect">
              <a:avLst/>
            </a:prstGeom>
            <a:noFill/>
            <a:ln>
              <a:noFill/>
            </a:ln>
          </p:spPr>
          <p:txBody>
            <a:bodyPr spcFirstLastPara="1" wrap="square" lIns="0" tIns="0" rIns="0" bIns="0" anchor="t" anchorCtr="0">
              <a:spAutoFit/>
            </a:bodyPr>
            <a:lstStyle/>
            <a:p>
              <a:pPr marL="0" marR="0" lvl="0" indent="0" algn="ctr" rtl="0">
                <a:lnSpc>
                  <a:spcPct val="701888"/>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54" name="Google Shape;154;p20"/>
          <p:cNvGrpSpPr/>
          <p:nvPr/>
        </p:nvGrpSpPr>
        <p:grpSpPr>
          <a:xfrm>
            <a:off x="1873714" y="4696929"/>
            <a:ext cx="13628822" cy="4488047"/>
            <a:chOff x="2753902" y="4797891"/>
            <a:chExt cx="13628822" cy="4488047"/>
          </a:xfrm>
        </p:grpSpPr>
        <p:sp>
          <p:nvSpPr>
            <p:cNvPr id="155" name="Google Shape;155;p20"/>
            <p:cNvSpPr txBox="1"/>
            <p:nvPr/>
          </p:nvSpPr>
          <p:spPr>
            <a:xfrm rot="-348051">
              <a:off x="2847493" y="5401630"/>
              <a:ext cx="12071717" cy="2462422"/>
            </a:xfrm>
            <a:prstGeom prst="rect">
              <a:avLst/>
            </a:prstGeom>
            <a:noFill/>
            <a:ln>
              <a:noFill/>
            </a:ln>
          </p:spPr>
          <p:txBody>
            <a:bodyPr spcFirstLastPara="1" wrap="square" lIns="0" tIns="0" rIns="0" bIns="0" anchor="t" anchorCtr="0">
              <a:spAutoFit/>
            </a:bodyPr>
            <a:lstStyle/>
            <a:p>
              <a:pPr marL="0" marR="0" lvl="0" indent="0" algn="ctr" rtl="0">
                <a:lnSpc>
                  <a:spcPct val="54998"/>
                </a:lnSpc>
                <a:spcBef>
                  <a:spcPts val="0"/>
                </a:spcBef>
                <a:spcAft>
                  <a:spcPts val="0"/>
                </a:spcAft>
                <a:buNone/>
              </a:pPr>
              <a:r>
                <a:rPr lang="en-US" sz="29088" i="0" u="none" strike="noStrike" cap="none">
                  <a:solidFill>
                    <a:srgbClr val="1D1D1F"/>
                  </a:solidFill>
                  <a:latin typeface="Caveat"/>
                  <a:ea typeface="Caveat"/>
                  <a:cs typeface="Caveat"/>
                  <a:sym typeface="Caveat"/>
                </a:rPr>
                <a:t>Thank</a:t>
              </a:r>
              <a:endParaRPr>
                <a:latin typeface="Caveat"/>
                <a:ea typeface="Caveat"/>
                <a:cs typeface="Caveat"/>
                <a:sym typeface="Caveat"/>
              </a:endParaRPr>
            </a:p>
          </p:txBody>
        </p:sp>
        <p:sp>
          <p:nvSpPr>
            <p:cNvPr id="156" name="Google Shape;156;p20"/>
            <p:cNvSpPr txBox="1"/>
            <p:nvPr/>
          </p:nvSpPr>
          <p:spPr>
            <a:xfrm>
              <a:off x="4695023" y="6732039"/>
              <a:ext cx="11687700" cy="2553900"/>
            </a:xfrm>
            <a:prstGeom prst="rect">
              <a:avLst/>
            </a:prstGeom>
            <a:noFill/>
            <a:ln>
              <a:noFill/>
            </a:ln>
          </p:spPr>
          <p:txBody>
            <a:bodyPr spcFirstLastPara="1" wrap="square" lIns="0" tIns="0" rIns="0" bIns="0" anchor="t" anchorCtr="0">
              <a:spAutoFit/>
            </a:bodyPr>
            <a:lstStyle/>
            <a:p>
              <a:pPr marL="0" marR="0" lvl="0" indent="0" algn="ctr" rtl="0">
                <a:lnSpc>
                  <a:spcPct val="55000"/>
                </a:lnSpc>
                <a:spcBef>
                  <a:spcPts val="0"/>
                </a:spcBef>
                <a:spcAft>
                  <a:spcPts val="0"/>
                </a:spcAft>
                <a:buNone/>
              </a:pPr>
              <a:r>
                <a:rPr lang="en-US" sz="30167" i="0" u="none" strike="noStrike" cap="none">
                  <a:solidFill>
                    <a:srgbClr val="1D1D1F"/>
                  </a:solidFill>
                  <a:latin typeface="Caveat"/>
                  <a:ea typeface="Caveat"/>
                  <a:cs typeface="Caveat"/>
                  <a:sym typeface="Caveat"/>
                </a:rPr>
                <a:t>you!</a:t>
              </a:r>
              <a:endParaRPr>
                <a:latin typeface="Caveat"/>
                <a:ea typeface="Caveat"/>
                <a:cs typeface="Caveat"/>
                <a:sym typeface="Caveat"/>
              </a:endParaRPr>
            </a:p>
          </p:txBody>
        </p:sp>
      </p:grpSp>
      <p:pic>
        <p:nvPicPr>
          <p:cNvPr id="157" name="Google Shape;157;p20" title="download (2).jpg"/>
          <p:cNvPicPr preferRelativeResize="0"/>
          <p:nvPr/>
        </p:nvPicPr>
        <p:blipFill rotWithShape="1">
          <a:blip r:embed="rId3">
            <a:alphaModFix/>
          </a:blip>
          <a:srcRect l="38928" r="16455"/>
          <a:stretch/>
        </p:blipFill>
        <p:spPr>
          <a:xfrm rot="-5400000">
            <a:off x="7123100" y="-7111200"/>
            <a:ext cx="4088375" cy="18326624"/>
          </a:xfrm>
          <a:prstGeom prst="rect">
            <a:avLst/>
          </a:prstGeom>
          <a:noFill/>
          <a:ln>
            <a:noFill/>
          </a:ln>
        </p:spPr>
      </p:pic>
      <p:pic>
        <p:nvPicPr>
          <p:cNvPr id="158" name="Google Shape;158;p20" title="Group 48097831.png"/>
          <p:cNvPicPr preferRelativeResize="0"/>
          <p:nvPr/>
        </p:nvPicPr>
        <p:blipFill>
          <a:blip r:embed="rId4">
            <a:alphaModFix/>
          </a:blip>
          <a:stretch>
            <a:fillRect/>
          </a:stretch>
        </p:blipFill>
        <p:spPr>
          <a:xfrm>
            <a:off x="318675" y="296224"/>
            <a:ext cx="7240346" cy="791925"/>
          </a:xfrm>
          <a:prstGeom prst="rect">
            <a:avLst/>
          </a:prstGeom>
          <a:noFill/>
          <a:ln>
            <a:noFill/>
          </a:ln>
        </p:spPr>
      </p:pic>
      <p:pic>
        <p:nvPicPr>
          <p:cNvPr id="159" name="Google Shape;159;p20" title="Logo.png"/>
          <p:cNvPicPr preferRelativeResize="0"/>
          <p:nvPr/>
        </p:nvPicPr>
        <p:blipFill>
          <a:blip r:embed="rId5">
            <a:alphaModFix/>
          </a:blip>
          <a:stretch>
            <a:fillRect/>
          </a:stretch>
        </p:blipFill>
        <p:spPr>
          <a:xfrm>
            <a:off x="12520575" y="296231"/>
            <a:ext cx="5599601" cy="791925"/>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877</TotalTime>
  <Words>670</Words>
  <Application>Microsoft Office PowerPoint</Application>
  <PresentationFormat>Custom</PresentationFormat>
  <Paragraphs>77</Paragraphs>
  <Slides>8</Slides>
  <Notes>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vt:i4>
      </vt:variant>
    </vt:vector>
  </HeadingPairs>
  <TitlesOfParts>
    <vt:vector size="14" baseType="lpstr">
      <vt:lpstr>Calibri</vt:lpstr>
      <vt:lpstr>Montserrat</vt:lpstr>
      <vt:lpstr>Caveat</vt:lpstr>
      <vt:lpstr>Arial</vt:lpstr>
      <vt:lpstr>IBM Plex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Johaan Liju</cp:lastModifiedBy>
  <cp:revision>6</cp:revision>
  <dcterms:modified xsi:type="dcterms:W3CDTF">2026-10-25T11:11:25Z</dcterms:modified>
</cp:coreProperties>
</file>